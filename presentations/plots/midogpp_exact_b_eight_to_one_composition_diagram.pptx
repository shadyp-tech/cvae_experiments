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1513e9d09f472b" /><Relationship Type="http://schemas.openxmlformats.org/officeDocument/2006/relationships/extended-properties" Target="/docProps/app.xml" Id="R5019b024d4b84dea" /><Relationship Type="http://schemas.openxmlformats.org/officeDocument/2006/relationships/officeDocument" Target="/ppt/presentation.xml" Id="R8ea0a141f5ee4a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438c86eda4422"/>
  </p:sldMasterIdLst>
  <p:notesMasterIdLst>
    <p:notesMasterId xmlns:r="http://schemas.openxmlformats.org/officeDocument/2006/relationships" r:id="R1997eb7ecc8448f9"/>
  </p:notesMasterIdLst>
  <p:sldIdLst>
    <p:sldId xmlns:r="http://schemas.openxmlformats.org/officeDocument/2006/relationships" id="256" r:id="R644cca00248c42c9"/>
  </p:sldIdLst>
  <p:sldSz cx="11430000" cy="6191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c639a910442ee" /><Relationship Type="http://schemas.openxmlformats.org/officeDocument/2006/relationships/slideMaster" Target="/ppt/slideMasters/slideMaster1.xml" Id="R37e438c86eda4422" /><Relationship Type="http://schemas.openxmlformats.org/officeDocument/2006/relationships/notesMaster" Target="/ppt/notesMasters/notesMaster1.xml" Id="R1997eb7ecc8448f9" /><Relationship Type="http://schemas.openxmlformats.org/officeDocument/2006/relationships/presProps" Target="/ppt/presProps.xml" Id="Re3d3ce7eb3ec466f" /><Relationship Type="http://schemas.openxmlformats.org/officeDocument/2006/relationships/tableStyles" Target="/ppt/tableStyles.xml" Id="R0d8b0c6133674782" /><Relationship Type="http://schemas.openxmlformats.org/officeDocument/2006/relationships/slide" Target="/ppt/slides/slide1.xml" Id="R644cca00248c42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fbd69ef16744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99a401d3bc42f5" /><Relationship Type="http://schemas.openxmlformats.org/officeDocument/2006/relationships/notesMaster" Target="/ppt/notesMasters/notesMaster1.xml" Id="R01a86c862962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1e2ce2e66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8a30b9c7b3484c" /><Relationship Type="http://schemas.openxmlformats.org/officeDocument/2006/relationships/slideLayout" Target="/ppt/slideLayouts/slideLayout1.xml" Id="R078f459e929743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8f459e929743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c7efffece4573" /><Relationship Type="http://schemas.openxmlformats.org/officeDocument/2006/relationships/notesSlide" Target="/ppt/notesSlides/notesSlide1.xml" Id="R97863dcbdd0648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xpert-1-to-equal-quota-bus">
            <a:extLst xmlns:a="http://schemas.openxmlformats.org/drawingml/2006/main">
              <a:ext uri="{FF2B5EF4-FFF2-40B4-BE49-F238E27FC236}">
                <a16:creationId xmlns:a16="http://schemas.microsoft.com/office/drawing/2014/main" id="{10241F4C-BABF-42C1-A61C-05D62B18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7FB2CC"/>
            </a:solidFill>
            <a:prstDash val="solid"/>
          </a:ln>
        </p:spPr>
      </p:sp>
      <p:sp>
        <p:nvSpPr>
          <p:cNvPr id="2" name="expert-2-to-equal-quota-bus">
            <a:extLst xmlns:a="http://schemas.openxmlformats.org/drawingml/2006/main">
              <a:ext uri="{FF2B5EF4-FFF2-40B4-BE49-F238E27FC236}">
                <a16:creationId xmlns:a16="http://schemas.microsoft.com/office/drawing/2014/main" id="{E4912873-ABBE-4C34-A5DD-61CA129C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71625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7FB2CC"/>
            </a:solidFill>
            <a:prstDash val="solid"/>
          </a:ln>
        </p:spPr>
      </p:sp>
      <p:sp>
        <p:nvSpPr>
          <p:cNvPr id="3" name="expert-3-to-equal-quota-bus">
            <a:extLst xmlns:a="http://schemas.openxmlformats.org/drawingml/2006/main">
              <a:ext uri="{FF2B5EF4-FFF2-40B4-BE49-F238E27FC236}">
                <a16:creationId xmlns:a16="http://schemas.microsoft.com/office/drawing/2014/main" id="{B7340127-E8E0-4C21-AE84-30A75F76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7FB2CC"/>
            </a:solidFill>
            <a:prstDash val="solid"/>
          </a:ln>
        </p:spPr>
      </p:sp>
      <p:sp>
        <p:nvSpPr>
          <p:cNvPr id="4" name="expert-4-to-equal-quota-bus">
            <a:extLst xmlns:a="http://schemas.openxmlformats.org/drawingml/2006/main">
              <a:ext uri="{FF2B5EF4-FFF2-40B4-BE49-F238E27FC236}">
                <a16:creationId xmlns:a16="http://schemas.microsoft.com/office/drawing/2014/main" id="{A2B9FF04-19CF-4E94-91B1-C48A9A32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19375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7FB2CC"/>
            </a:solidFill>
            <a:prstDash val="solid"/>
          </a:ln>
        </p:spPr>
      </p:sp>
      <p:sp>
        <p:nvSpPr>
          <p:cNvPr id="5" name="expert-5-to-equal-quota-bus">
            <a:extLst xmlns:a="http://schemas.openxmlformats.org/drawingml/2006/main">
              <a:ext uri="{FF2B5EF4-FFF2-40B4-BE49-F238E27FC236}">
                <a16:creationId xmlns:a16="http://schemas.microsoft.com/office/drawing/2014/main" id="{7C056D58-E849-49CA-92E8-26617E1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7FB2CC"/>
            </a:solidFill>
            <a:prstDash val="solid"/>
          </a:ln>
        </p:spPr>
      </p:sp>
      <p:sp>
        <p:nvSpPr>
          <p:cNvPr id="6" name="expert-6-to-equal-quota-bus">
            <a:extLst xmlns:a="http://schemas.openxmlformats.org/drawingml/2006/main">
              <a:ext uri="{FF2B5EF4-FFF2-40B4-BE49-F238E27FC236}">
                <a16:creationId xmlns:a16="http://schemas.microsoft.com/office/drawing/2014/main" id="{8E2DDE22-1294-4A02-B7E2-BD713324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67125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7FB2CC"/>
            </a:solidFill>
            <a:prstDash val="solid"/>
          </a:ln>
        </p:spPr>
      </p:sp>
      <p:sp>
        <p:nvSpPr>
          <p:cNvPr id="7" name="expert-7-to-equal-quota-bus">
            <a:extLst xmlns:a="http://schemas.openxmlformats.org/drawingml/2006/main">
              <a:ext uri="{FF2B5EF4-FFF2-40B4-BE49-F238E27FC236}">
                <a16:creationId xmlns:a16="http://schemas.microsoft.com/office/drawing/2014/main" id="{691FF020-7F5C-49E9-9B3A-ADD174A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910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7FB2CC"/>
            </a:solidFill>
            <a:prstDash val="solid"/>
          </a:ln>
        </p:spPr>
      </p:sp>
      <p:sp>
        <p:nvSpPr>
          <p:cNvPr id="8" name="expert-8-to-equal-quota-bus">
            <a:extLst xmlns:a="http://schemas.openxmlformats.org/drawingml/2006/main">
              <a:ext uri="{FF2B5EF4-FFF2-40B4-BE49-F238E27FC236}">
                <a16:creationId xmlns:a16="http://schemas.microsoft.com/office/drawing/2014/main" id="{1FCB683C-A178-4673-8F89-09263E32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14875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7FB2CC"/>
            </a:solidFill>
            <a:prstDash val="solid"/>
          </a:ln>
        </p:spPr>
      </p:sp>
      <p:sp>
        <p:nvSpPr>
          <p:cNvPr id="9" name="equal-quota-bus">
            <a:extLst xmlns:a="http://schemas.openxmlformats.org/drawingml/2006/main">
              <a:ext uri="{FF2B5EF4-FFF2-40B4-BE49-F238E27FC236}">
                <a16:creationId xmlns:a16="http://schemas.microsoft.com/office/drawing/2014/main" id="{C7E475CA-0228-46E1-BCF6-F76E6414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047750"/>
            <a:ext cx="0" cy="3667125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E86B3"/>
            </a:solidFill>
            <a:prstDash val="solid"/>
          </a:ln>
        </p:spPr>
      </p:sp>
      <p:sp>
        <p:nvSpPr>
          <p:cNvPr id="10" name="bank-to-exact-b-arrow">
            <a:extLst xmlns:a="http://schemas.openxmlformats.org/drawingml/2006/main">
              <a:ext uri="{FF2B5EF4-FFF2-40B4-BE49-F238E27FC236}">
                <a16:creationId xmlns:a16="http://schemas.microsoft.com/office/drawing/2014/main" id="{5D6CEB80-3671-4137-8D58-660348AA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0350"/>
            <a:ext cx="1028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6B3"/>
          </a:solidFill>
          <a:ln xmlns:a="http://schemas.openxmlformats.org/drawingml/2006/main" w="7620">
            <a:solidFill>
              <a:srgbClr val="3E86B3"/>
            </a:solidFill>
            <a:prstDash val="solid"/>
          </a:ln>
        </p:spPr>
      </p:sp>
      <p:sp>
        <p:nvSpPr>
          <p:cNvPr id="11" name="exact-b-to-pool-arrow">
            <a:extLst xmlns:a="http://schemas.openxmlformats.org/drawingml/2006/main">
              <a:ext uri="{FF2B5EF4-FFF2-40B4-BE49-F238E27FC236}">
                <a16:creationId xmlns:a16="http://schemas.microsoft.com/office/drawing/2014/main" id="{5F3DCC06-6AAC-4F23-AC79-E2B9DBF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0350"/>
            <a:ext cx="1181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2848"/>
          </a:solidFill>
          <a:ln xmlns:a="http://schemas.openxmlformats.org/drawingml/2006/main" w="7620">
            <a:solidFill>
              <a:srgbClr val="0D2848"/>
            </a:solidFill>
            <a:prstDash val="solid"/>
          </a:ln>
        </p:spPr>
      </p:sp>
      <p:sp>
        <p:nvSpPr>
          <p:cNvPr id="12" name="stage-one-number">
            <a:extLst xmlns:a="http://schemas.openxmlformats.org/drawingml/2006/main">
              <a:ext uri="{FF2B5EF4-FFF2-40B4-BE49-F238E27FC236}">
                <a16:creationId xmlns:a16="http://schemas.microsoft.com/office/drawing/2014/main" id="{BB679651-B0C8-43AD-B38D-2715D392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6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6A1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stage-one-label">
            <a:extLst xmlns:a="http://schemas.openxmlformats.org/drawingml/2006/main">
              <a:ext uri="{FF2B5EF4-FFF2-40B4-BE49-F238E27FC236}">
                <a16:creationId xmlns:a16="http://schemas.microsoft.com/office/drawing/2014/main" id="{B27A2240-65C6-4F6A-8BAC-BD3257F6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FROZEN SOURCE EXPERTS</a:t>
            </a:r>
          </a:p>
        </p:txBody>
      </p:sp>
      <p:sp>
        <p:nvSpPr>
          <p:cNvPr id="14" name="stage-two-number">
            <a:extLst xmlns:a="http://schemas.openxmlformats.org/drawingml/2006/main">
              <a:ext uri="{FF2B5EF4-FFF2-40B4-BE49-F238E27FC236}">
                <a16:creationId xmlns:a16="http://schemas.microsoft.com/office/drawing/2014/main" id="{5D355435-1ACA-4CCF-8A7F-4272C456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6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6A1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stage-two-label">
            <a:extLst xmlns:a="http://schemas.openxmlformats.org/drawingml/2006/main">
              <a:ext uri="{FF2B5EF4-FFF2-40B4-BE49-F238E27FC236}">
                <a16:creationId xmlns:a16="http://schemas.microsoft.com/office/drawing/2014/main" id="{E205C7AC-EECD-47FB-88DE-40F5A751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FIXED COMPOSITION</a:t>
            </a:r>
          </a:p>
        </p:txBody>
      </p:sp>
      <p:sp>
        <p:nvSpPr>
          <p:cNvPr id="16" name="stage-three-number">
            <a:extLst xmlns:a="http://schemas.openxmlformats.org/drawingml/2006/main">
              <a:ext uri="{FF2B5EF4-FFF2-40B4-BE49-F238E27FC236}">
                <a16:creationId xmlns:a16="http://schemas.microsoft.com/office/drawing/2014/main" id="{32247F05-ECDC-40D0-A3CD-D5A67594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6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6A1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stage-three-label">
            <a:extLst xmlns:a="http://schemas.openxmlformats.org/drawingml/2006/main">
              <a:ext uri="{FF2B5EF4-FFF2-40B4-BE49-F238E27FC236}">
                <a16:creationId xmlns:a16="http://schemas.microsoft.com/office/drawing/2014/main" id="{EBDE7DDE-8A98-4D92-AD98-B865DE09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71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ONE MERGED OUTPUT</a:t>
            </a:r>
          </a:p>
        </p:txBody>
      </p:sp>
      <p:sp>
        <p:nvSpPr>
          <p:cNvPr id="18" name="source-expert-1">
            <a:extLst xmlns:a="http://schemas.openxmlformats.org/drawingml/2006/main">
              <a:ext uri="{FF2B5EF4-FFF2-40B4-BE49-F238E27FC236}">
                <a16:creationId xmlns:a16="http://schemas.microsoft.com/office/drawing/2014/main" id="{2D323FD1-36AB-4C3B-8D9C-512F900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2324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11430">
            <a:solidFill>
              <a:srgbClr val="0D2848"/>
            </a:solidFill>
            <a:prstDash val="solid"/>
          </a:ln>
        </p:spPr>
        <p:txBody>
          <a:bodyPr xmlns:a="http://schemas.openxmlformats.org/drawingml/2006/main" wrap="none" lIns="17145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E1   |   frozen CVAE expert</a:t>
            </a:r>
          </a:p>
        </p:txBody>
      </p:sp>
      <p:sp>
        <p:nvSpPr>
          <p:cNvPr id="19" name="source-expert-2">
            <a:extLst xmlns:a="http://schemas.openxmlformats.org/drawingml/2006/main">
              <a:ext uri="{FF2B5EF4-FFF2-40B4-BE49-F238E27FC236}">
                <a16:creationId xmlns:a16="http://schemas.microsoft.com/office/drawing/2014/main" id="{E4D1A89B-22F5-4C1C-B858-E5073966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2324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11430">
            <a:solidFill>
              <a:srgbClr val="0D2848"/>
            </a:solidFill>
            <a:prstDash val="solid"/>
          </a:ln>
        </p:spPr>
        <p:txBody>
          <a:bodyPr xmlns:a="http://schemas.openxmlformats.org/drawingml/2006/main" wrap="none" lIns="17145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E2   |   frozen CVAE expert</a:t>
            </a:r>
          </a:p>
        </p:txBody>
      </p:sp>
      <p:sp>
        <p:nvSpPr>
          <p:cNvPr id="20" name="source-expert-3">
            <a:extLst xmlns:a="http://schemas.openxmlformats.org/drawingml/2006/main">
              <a:ext uri="{FF2B5EF4-FFF2-40B4-BE49-F238E27FC236}">
                <a16:creationId xmlns:a16="http://schemas.microsoft.com/office/drawing/2014/main" id="{23880126-ED1A-4BF8-A812-162A360F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2324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11430">
            <a:solidFill>
              <a:srgbClr val="0D2848"/>
            </a:solidFill>
            <a:prstDash val="solid"/>
          </a:ln>
        </p:spPr>
        <p:txBody>
          <a:bodyPr xmlns:a="http://schemas.openxmlformats.org/drawingml/2006/main" wrap="none" lIns="17145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E3   |   frozen CVAE expert</a:t>
            </a:r>
          </a:p>
        </p:txBody>
      </p:sp>
      <p:sp>
        <p:nvSpPr>
          <p:cNvPr id="21" name="source-expert-4">
            <a:extLst xmlns:a="http://schemas.openxmlformats.org/drawingml/2006/main">
              <a:ext uri="{FF2B5EF4-FFF2-40B4-BE49-F238E27FC236}">
                <a16:creationId xmlns:a16="http://schemas.microsoft.com/office/drawing/2014/main" id="{C09C64DE-ADC0-47D8-98BC-EAF399F0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2324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11430">
            <a:solidFill>
              <a:srgbClr val="0D2848"/>
            </a:solidFill>
            <a:prstDash val="solid"/>
          </a:ln>
        </p:spPr>
        <p:txBody>
          <a:bodyPr xmlns:a="http://schemas.openxmlformats.org/drawingml/2006/main" wrap="none" lIns="17145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E4   |   frozen CVAE expert</a:t>
            </a:r>
          </a:p>
        </p:txBody>
      </p:sp>
      <p:sp>
        <p:nvSpPr>
          <p:cNvPr id="22" name="source-expert-5">
            <a:extLst xmlns:a="http://schemas.openxmlformats.org/drawingml/2006/main">
              <a:ext uri="{FF2B5EF4-FFF2-40B4-BE49-F238E27FC236}">
                <a16:creationId xmlns:a16="http://schemas.microsoft.com/office/drawing/2014/main" id="{B33AE993-66FB-495B-9886-50B4434A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2324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11430">
            <a:solidFill>
              <a:srgbClr val="0D2848"/>
            </a:solidFill>
            <a:prstDash val="solid"/>
          </a:ln>
        </p:spPr>
        <p:txBody>
          <a:bodyPr xmlns:a="http://schemas.openxmlformats.org/drawingml/2006/main" wrap="none" lIns="17145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E5   |   frozen CVAE expert</a:t>
            </a:r>
          </a:p>
        </p:txBody>
      </p:sp>
      <p:sp>
        <p:nvSpPr>
          <p:cNvPr id="23" name="source-expert-6">
            <a:extLst xmlns:a="http://schemas.openxmlformats.org/drawingml/2006/main">
              <a:ext uri="{FF2B5EF4-FFF2-40B4-BE49-F238E27FC236}">
                <a16:creationId xmlns:a16="http://schemas.microsoft.com/office/drawing/2014/main" id="{AA0A263E-EC17-4E43-B2F0-1848C9CD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2324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11430">
            <a:solidFill>
              <a:srgbClr val="0D2848"/>
            </a:solidFill>
            <a:prstDash val="solid"/>
          </a:ln>
        </p:spPr>
        <p:txBody>
          <a:bodyPr xmlns:a="http://schemas.openxmlformats.org/drawingml/2006/main" wrap="none" lIns="17145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E6   |   frozen CVAE expert</a:t>
            </a:r>
          </a:p>
        </p:txBody>
      </p:sp>
      <p:sp>
        <p:nvSpPr>
          <p:cNvPr id="24" name="source-expert-7">
            <a:extLst xmlns:a="http://schemas.openxmlformats.org/drawingml/2006/main">
              <a:ext uri="{FF2B5EF4-FFF2-40B4-BE49-F238E27FC236}">
                <a16:creationId xmlns:a16="http://schemas.microsoft.com/office/drawing/2014/main" id="{CAF107CA-F7F7-47D9-BE71-04934F7E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2324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11430">
            <a:solidFill>
              <a:srgbClr val="0D2848"/>
            </a:solidFill>
            <a:prstDash val="solid"/>
          </a:ln>
        </p:spPr>
        <p:txBody>
          <a:bodyPr xmlns:a="http://schemas.openxmlformats.org/drawingml/2006/main" wrap="none" lIns="17145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E7   |   frozen CVAE expert</a:t>
            </a:r>
          </a:p>
        </p:txBody>
      </p:sp>
      <p:sp>
        <p:nvSpPr>
          <p:cNvPr id="25" name="source-expert-8">
            <a:extLst xmlns:a="http://schemas.openxmlformats.org/drawingml/2006/main">
              <a:ext uri="{FF2B5EF4-FFF2-40B4-BE49-F238E27FC236}">
                <a16:creationId xmlns:a16="http://schemas.microsoft.com/office/drawing/2014/main" id="{6221727A-5F80-4017-9DEF-9788B0B3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324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11430">
            <a:solidFill>
              <a:srgbClr val="0D2848"/>
            </a:solidFill>
            <a:prstDash val="solid"/>
          </a:ln>
        </p:spPr>
        <p:txBody>
          <a:bodyPr xmlns:a="http://schemas.openxmlformats.org/drawingml/2006/main" wrap="none" lIns="17145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E8   |   frozen CVAE expert</a:t>
            </a:r>
          </a:p>
        </p:txBody>
      </p:sp>
      <p:sp>
        <p:nvSpPr>
          <p:cNvPr id="26" name="exact-b-union">
            <a:extLst xmlns:a="http://schemas.openxmlformats.org/drawingml/2006/main">
              <a:ext uri="{FF2B5EF4-FFF2-40B4-BE49-F238E27FC236}">
                <a16:creationId xmlns:a16="http://schemas.microsoft.com/office/drawing/2014/main" id="{9670FF39-ECE5-456C-BAD8-92627A57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7640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0D2848"/>
            </a:solidFill>
            <a:prstDash val="solid"/>
          </a:ln>
        </p:spPr>
      </p:sp>
      <p:sp>
        <p:nvSpPr>
          <p:cNvPr id="27" name="merged-embedding-pool">
            <a:extLst xmlns:a="http://schemas.openxmlformats.org/drawingml/2006/main">
              <a:ext uri="{FF2B5EF4-FFF2-40B4-BE49-F238E27FC236}">
                <a16:creationId xmlns:a16="http://schemas.microsoft.com/office/drawing/2014/main" id="{0D6C855E-E0B3-440B-912B-A9386F9A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2743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3E86B3"/>
            </a:solidFill>
            <a:prstDash val="solid"/>
          </a:ln>
        </p:spPr>
      </p:sp>
      <p:sp>
        <p:nvSpPr>
          <p:cNvPr id="28" name="exact-b-name">
            <a:extLst xmlns:a="http://schemas.openxmlformats.org/drawingml/2006/main">
              <a:ext uri="{FF2B5EF4-FFF2-40B4-BE49-F238E27FC236}">
                <a16:creationId xmlns:a16="http://schemas.microsoft.com/office/drawing/2014/main" id="{A4F8C32D-789C-4AA0-8F2D-D2E57CD5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76425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D28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2848"/>
                </a:solidFill>
                <a:latin typeface="Arial"/>
                <a:ea typeface="Arial"/>
                <a:cs typeface="Arial"/>
              </a:rPr>
              <a:t>EXACT-B</a:t>
            </a:r>
          </a:p>
        </p:txBody>
      </p:sp>
      <p:sp>
        <p:nvSpPr>
          <p:cNvPr id="29" name="exact-b-role">
            <a:extLst xmlns:a="http://schemas.openxmlformats.org/drawingml/2006/main">
              <a:ext uri="{FF2B5EF4-FFF2-40B4-BE49-F238E27FC236}">
                <a16:creationId xmlns:a16="http://schemas.microsoft.com/office/drawing/2014/main" id="{421CF103-00FE-4365-A4D2-78A66D7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7647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66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6A1A"/>
                </a:solidFill>
                <a:latin typeface="Arial"/>
                <a:ea typeface="Arial"/>
                <a:cs typeface="Arial"/>
              </a:rPr>
              <a:t>FIXED EQUAL UNION</a:t>
            </a:r>
          </a:p>
        </p:txBody>
      </p:sp>
      <p:sp>
        <p:nvSpPr>
          <p:cNvPr id="30" name="exact-b-step-one">
            <a:extLst xmlns:a="http://schemas.openxmlformats.org/drawingml/2006/main">
              <a:ext uri="{FF2B5EF4-FFF2-40B4-BE49-F238E27FC236}">
                <a16:creationId xmlns:a16="http://schemas.microsoft.com/office/drawing/2014/main" id="{19B6B82C-9671-43F4-9FCE-31CF2DD4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  Draw the same quota</a:t>
            </a:r>
          </a:p>
        </p:txBody>
      </p:sp>
      <p:sp>
        <p:nvSpPr>
          <p:cNvPr id="31" name="exact-b-step-one-detail">
            <a:extLst xmlns:a="http://schemas.openxmlformats.org/drawingml/2006/main">
              <a:ext uri="{FF2B5EF4-FFF2-40B4-BE49-F238E27FC236}">
                <a16:creationId xmlns:a16="http://schemas.microsoft.com/office/drawing/2014/main" id="{02A492AB-74CB-473E-B43E-9F497236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6666"/>
                </a:solidFill>
                <a:latin typeface="Arial"/>
                <a:ea typeface="Arial"/>
                <a:cs typeface="Arial"/>
              </a:rPr>
              <a:t>128 embeddings / class / expert</a:t>
            </a:r>
          </a:p>
        </p:txBody>
      </p:sp>
      <p:sp>
        <p:nvSpPr>
          <p:cNvPr id="32" name="exact-b-step-divider">
            <a:extLst xmlns:a="http://schemas.openxmlformats.org/drawingml/2006/main">
              <a:ext uri="{FF2B5EF4-FFF2-40B4-BE49-F238E27FC236}">
                <a16:creationId xmlns:a16="http://schemas.microsoft.com/office/drawing/2014/main" id="{AB72B357-A22B-47AD-A375-8F46FAC2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14700"/>
            <a:ext cx="1752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3" name="exact-b-step-two">
            <a:extLst xmlns:a="http://schemas.openxmlformats.org/drawingml/2006/main">
              <a:ext uri="{FF2B5EF4-FFF2-40B4-BE49-F238E27FC236}">
                <a16:creationId xmlns:a16="http://schemas.microsoft.com/office/drawing/2014/main" id="{672AE162-6018-44B4-B13B-A58F231A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 Concatenate outputs</a:t>
            </a:r>
          </a:p>
        </p:txBody>
      </p:sp>
      <p:sp>
        <p:nvSpPr>
          <p:cNvPr id="34" name="exact-b-step-two-detail">
            <a:extLst xmlns:a="http://schemas.openxmlformats.org/drawingml/2006/main">
              <a:ext uri="{FF2B5EF4-FFF2-40B4-BE49-F238E27FC236}">
                <a16:creationId xmlns:a16="http://schemas.microsoft.com/office/drawing/2014/main" id="{64D61264-ACA1-46B3-87D8-423AA1BA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052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6666"/>
                </a:solidFill>
                <a:latin typeface="Arial"/>
                <a:ea typeface="Arial"/>
                <a:cs typeface="Arial"/>
              </a:rPr>
              <a:t>output-space composition</a:t>
            </a:r>
          </a:p>
        </p:txBody>
      </p:sp>
      <p:sp>
        <p:nvSpPr>
          <p:cNvPr id="35" name="quota-label">
            <a:extLst xmlns:a="http://schemas.openxmlformats.org/drawingml/2006/main">
              <a:ext uri="{FF2B5EF4-FFF2-40B4-BE49-F238E27FC236}">
                <a16:creationId xmlns:a16="http://schemas.microsoft.com/office/drawing/2014/main" id="{76922885-65B2-451D-9610-5881A3A1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90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E86B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E86B3"/>
                </a:solidFill>
                <a:latin typeface="Arial"/>
                <a:ea typeface="Arial"/>
                <a:cs typeface="Arial"/>
              </a:rPr>
              <a:t>EQUAL QUOTA</a:t>
            </a:r>
          </a:p>
        </p:txBody>
      </p:sp>
      <p:sp>
        <p:nvSpPr>
          <p:cNvPr id="36" name="quota-detail">
            <a:extLst xmlns:a="http://schemas.openxmlformats.org/drawingml/2006/main">
              <a:ext uri="{FF2B5EF4-FFF2-40B4-BE49-F238E27FC236}">
                <a16:creationId xmlns:a16="http://schemas.microsoft.com/office/drawing/2014/main" id="{A270EB32-A62A-483A-B9BD-B9E7AEB1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62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128 / class each</a:t>
            </a:r>
          </a:p>
        </p:txBody>
      </p:sp>
      <p:sp>
        <p:nvSpPr>
          <p:cNvPr id="37" name="concatenate-label">
            <a:extLst xmlns:a="http://schemas.openxmlformats.org/drawingml/2006/main">
              <a:ext uri="{FF2B5EF4-FFF2-40B4-BE49-F238E27FC236}">
                <a16:creationId xmlns:a16="http://schemas.microsoft.com/office/drawing/2014/main" id="{C763317C-6C05-4990-B82F-DF52CDB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39077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284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2848"/>
                </a:solidFill>
                <a:latin typeface="Arial"/>
                <a:ea typeface="Arial"/>
                <a:cs typeface="Arial"/>
              </a:rPr>
              <a:t>CONCATENATE</a:t>
            </a:r>
          </a:p>
        </p:txBody>
      </p:sp>
      <p:sp>
        <p:nvSpPr>
          <p:cNvPr id="38" name="concatenate-detail">
            <a:extLst xmlns:a="http://schemas.openxmlformats.org/drawingml/2006/main">
              <a:ext uri="{FF2B5EF4-FFF2-40B4-BE49-F238E27FC236}">
                <a16:creationId xmlns:a16="http://schemas.microsoft.com/office/drawing/2014/main" id="{5E12308E-1161-4EE4-937B-4D9A10C1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622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8 equal parts</a:t>
            </a:r>
          </a:p>
        </p:txBody>
      </p:sp>
      <p:sp>
        <p:nvSpPr>
          <p:cNvPr id="39" name="output-name">
            <a:extLst xmlns:a="http://schemas.openxmlformats.org/drawingml/2006/main">
              <a:ext uri="{FF2B5EF4-FFF2-40B4-BE49-F238E27FC236}">
                <a16:creationId xmlns:a16="http://schemas.microsoft.com/office/drawing/2014/main" id="{9E3BFB37-EB7F-414D-B3D3-AC2F44A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28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2848"/>
                </a:solidFill>
                <a:latin typeface="Arial"/>
                <a:ea typeface="Arial"/>
                <a:cs typeface="Arial"/>
              </a:rPr>
              <a:t>ONE SYNTHETIC</a:t>
            </a:r>
          </a:p>
          <a:p xmlns:a="http://schemas.openxmlformats.org/drawingml/2006/main">
            <a:pPr algn="ctr">
              <a:defRPr sz="1350" b="1">
                <a:solidFill>
                  <a:srgbClr val="0D28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2848"/>
                </a:solidFill>
                <a:latin typeface="Arial"/>
                <a:ea typeface="Arial"/>
                <a:cs typeface="Arial"/>
              </a:rPr>
              <a:t>EMBEDDING POOL</a:t>
            </a:r>
          </a:p>
        </p:txBody>
      </p:sp>
      <p:sp>
        <p:nvSpPr>
          <p:cNvPr id="40" name="output-budget">
            <a:extLst xmlns:a="http://schemas.openxmlformats.org/drawingml/2006/main">
              <a:ext uri="{FF2B5EF4-FFF2-40B4-BE49-F238E27FC236}">
                <a16:creationId xmlns:a16="http://schemas.microsoft.com/office/drawing/2014/main" id="{91969F1E-89F6-4C41-B410-DDB28CEE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66A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6A1A"/>
                </a:solidFill>
                <a:latin typeface="Arial"/>
                <a:ea typeface="Arial"/>
                <a:cs typeface="Arial"/>
              </a:rPr>
              <a:t>1,024 / class</a:t>
            </a:r>
          </a:p>
        </p:txBody>
      </p:sp>
      <p:sp>
        <p:nvSpPr>
          <p:cNvPr id="41" name="output-detail">
            <a:extLst xmlns:a="http://schemas.openxmlformats.org/drawingml/2006/main">
              <a:ext uri="{FF2B5EF4-FFF2-40B4-BE49-F238E27FC236}">
                <a16:creationId xmlns:a16="http://schemas.microsoft.com/office/drawing/2014/main" id="{C7C52436-94F9-4B86-A634-19E1883C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6666"/>
                </a:solidFill>
                <a:latin typeface="Arial"/>
                <a:ea typeface="Arial"/>
                <a:cs typeface="Arial"/>
              </a:rPr>
              <a:t>one balanced downstream training set</a:t>
            </a:r>
          </a:p>
        </p:txBody>
      </p:sp>
      <p:sp>
        <p:nvSpPr>
          <p:cNvPr id="42" name="merged-pool-segment-1">
            <a:extLst xmlns:a="http://schemas.openxmlformats.org/drawingml/2006/main">
              <a:ext uri="{FF2B5EF4-FFF2-40B4-BE49-F238E27FC236}">
                <a16:creationId xmlns:a16="http://schemas.microsoft.com/office/drawing/2014/main" id="{9210AAC5-4B72-4584-BB85-3E48A69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62350"/>
            <a:ext cx="20955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4763">
            <a:solidFill>
              <a:srgbClr val="0D2848"/>
            </a:solidFill>
            <a:prstDash val="solid"/>
          </a:ln>
        </p:spPr>
      </p:sp>
      <p:sp>
        <p:nvSpPr>
          <p:cNvPr id="43" name="merged-pool-segment-2">
            <a:extLst xmlns:a="http://schemas.openxmlformats.org/drawingml/2006/main">
              <a:ext uri="{FF2B5EF4-FFF2-40B4-BE49-F238E27FC236}">
                <a16:creationId xmlns:a16="http://schemas.microsoft.com/office/drawing/2014/main" id="{21102B26-9A07-41E2-8804-B0713514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62350"/>
            <a:ext cx="20955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FB2CC"/>
          </a:solidFill>
          <a:ln xmlns:a="http://schemas.openxmlformats.org/drawingml/2006/main" w="4763">
            <a:solidFill>
              <a:srgbClr val="7FB2CC"/>
            </a:solidFill>
            <a:prstDash val="solid"/>
          </a:ln>
        </p:spPr>
      </p:sp>
      <p:sp>
        <p:nvSpPr>
          <p:cNvPr id="44" name="merged-pool-segment-3">
            <a:extLst xmlns:a="http://schemas.openxmlformats.org/drawingml/2006/main">
              <a:ext uri="{FF2B5EF4-FFF2-40B4-BE49-F238E27FC236}">
                <a16:creationId xmlns:a16="http://schemas.microsoft.com/office/drawing/2014/main" id="{0A67E401-AE0D-4B96-83E9-4A3054ED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62350"/>
            <a:ext cx="20955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E86B3"/>
          </a:solidFill>
          <a:ln xmlns:a="http://schemas.openxmlformats.org/drawingml/2006/main" w="4763">
            <a:solidFill>
              <a:srgbClr val="3E86B3"/>
            </a:solidFill>
            <a:prstDash val="solid"/>
          </a:ln>
        </p:spPr>
      </p:sp>
      <p:sp>
        <p:nvSpPr>
          <p:cNvPr id="45" name="merged-pool-segment-4">
            <a:extLst xmlns:a="http://schemas.openxmlformats.org/drawingml/2006/main">
              <a:ext uri="{FF2B5EF4-FFF2-40B4-BE49-F238E27FC236}">
                <a16:creationId xmlns:a16="http://schemas.microsoft.com/office/drawing/2014/main" id="{A5EA4DE4-538D-44BB-A4C7-372CB38D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62350"/>
            <a:ext cx="20955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4763">
            <a:solidFill>
              <a:srgbClr val="0D2848"/>
            </a:solidFill>
            <a:prstDash val="solid"/>
          </a:ln>
        </p:spPr>
      </p:sp>
      <p:sp>
        <p:nvSpPr>
          <p:cNvPr id="46" name="merged-pool-segment-5">
            <a:extLst xmlns:a="http://schemas.openxmlformats.org/drawingml/2006/main">
              <a:ext uri="{FF2B5EF4-FFF2-40B4-BE49-F238E27FC236}">
                <a16:creationId xmlns:a16="http://schemas.microsoft.com/office/drawing/2014/main" id="{10BE5655-1540-4C77-ADE1-9F6B565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62350"/>
            <a:ext cx="20955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FB2CC"/>
          </a:solidFill>
          <a:ln xmlns:a="http://schemas.openxmlformats.org/drawingml/2006/main" w="4763">
            <a:solidFill>
              <a:srgbClr val="7FB2CC"/>
            </a:solidFill>
            <a:prstDash val="solid"/>
          </a:ln>
        </p:spPr>
      </p:sp>
      <p:sp>
        <p:nvSpPr>
          <p:cNvPr id="47" name="merged-pool-segment-6">
            <a:extLst xmlns:a="http://schemas.openxmlformats.org/drawingml/2006/main">
              <a:ext uri="{FF2B5EF4-FFF2-40B4-BE49-F238E27FC236}">
                <a16:creationId xmlns:a16="http://schemas.microsoft.com/office/drawing/2014/main" id="{0B4AB5D5-55AD-4A58-8AA3-7CF5A495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562350"/>
            <a:ext cx="20955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E86B3"/>
          </a:solidFill>
          <a:ln xmlns:a="http://schemas.openxmlformats.org/drawingml/2006/main" w="4763">
            <a:solidFill>
              <a:srgbClr val="3E86B3"/>
            </a:solidFill>
            <a:prstDash val="solid"/>
          </a:ln>
        </p:spPr>
      </p:sp>
      <p:sp>
        <p:nvSpPr>
          <p:cNvPr id="48" name="merged-pool-segment-7">
            <a:extLst xmlns:a="http://schemas.openxmlformats.org/drawingml/2006/main">
              <a:ext uri="{FF2B5EF4-FFF2-40B4-BE49-F238E27FC236}">
                <a16:creationId xmlns:a16="http://schemas.microsoft.com/office/drawing/2014/main" id="{D30D0709-1EC5-42E4-9CAB-4AE7DDD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62350"/>
            <a:ext cx="20955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848"/>
          </a:solidFill>
          <a:ln xmlns:a="http://schemas.openxmlformats.org/drawingml/2006/main" w="4763">
            <a:solidFill>
              <a:srgbClr val="0D2848"/>
            </a:solidFill>
            <a:prstDash val="solid"/>
          </a:ln>
        </p:spPr>
      </p:sp>
      <p:sp>
        <p:nvSpPr>
          <p:cNvPr id="49" name="merged-pool-segment-8">
            <a:extLst xmlns:a="http://schemas.openxmlformats.org/drawingml/2006/main">
              <a:ext uri="{FF2B5EF4-FFF2-40B4-BE49-F238E27FC236}">
                <a16:creationId xmlns:a16="http://schemas.microsoft.com/office/drawing/2014/main" id="{AC9D0071-DB8E-4ECC-9243-CF6D64FE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562350"/>
            <a:ext cx="209550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FB2CC"/>
          </a:solidFill>
          <a:ln xmlns:a="http://schemas.openxmlformats.org/drawingml/2006/main" w="4763">
            <a:solidFill>
              <a:srgbClr val="7FB2CC"/>
            </a:solidFill>
            <a:prstDash val="solid"/>
          </a:ln>
        </p:spPr>
      </p:sp>
      <p:sp>
        <p:nvSpPr>
          <p:cNvPr id="50" name="protocol-boundary-rule">
            <a:extLst xmlns:a="http://schemas.openxmlformats.org/drawingml/2006/main">
              <a:ext uri="{FF2B5EF4-FFF2-40B4-BE49-F238E27FC236}">
                <a16:creationId xmlns:a16="http://schemas.microsoft.com/office/drawing/2014/main" id="{E44BBEF6-94CA-4D2B-B830-5EC444D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571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1" name="protocol-boundary">
            <a:extLst xmlns:a="http://schemas.openxmlformats.org/drawingml/2006/main">
              <a:ext uri="{FF2B5EF4-FFF2-40B4-BE49-F238E27FC236}">
                <a16:creationId xmlns:a16="http://schemas.microsoft.com/office/drawing/2014/main" id="{0A722695-179F-4E79-8593-6F24806B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76875"/>
            <a:ext cx="750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Target expert H excluded   |   frozen checkpoints unchanged   |   no ranking or learned weights</a:t>
            </a:r>
          </a:p>
        </p:txBody>
      </p:sp>
    </p:spTree>
    <p:extLst>
      <p:ext uri="{BB962C8B-B14F-4D97-AF65-F5344CB8AC3E}">
        <p14:creationId xmlns:p14="http://schemas.microsoft.com/office/powerpoint/2010/main" val="1730561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2026-09-01T14:50:42.4350000Z</dcterms:created>
  <dcterms:modified xsi:type="dcterms:W3CDTF">2026-09-01T14:50:42.4350000Z</dcterms:modified>
</coreProperties>
</file>