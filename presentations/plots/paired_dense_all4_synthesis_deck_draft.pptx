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e797cdae2b4c1c" /><Relationship Type="http://schemas.openxmlformats.org/officeDocument/2006/relationships/extended-properties" Target="/docProps/app.xml" Id="Rf795f1dcdf19473b" /><Relationship Type="http://schemas.openxmlformats.org/officeDocument/2006/relationships/officeDocument" Target="/ppt/presentation.xml" Id="R61f4a8666f3842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a92fb49d0a4905"/>
  </p:sldMasterIdLst>
  <p:notesMasterIdLst>
    <p:notesMasterId xmlns:r="http://schemas.openxmlformats.org/officeDocument/2006/relationships" r:id="R8ca833eeb7854f2c"/>
  </p:notesMasterIdLst>
  <p:sldIdLst>
    <p:sldId xmlns:r="http://schemas.openxmlformats.org/officeDocument/2006/relationships" id="256" r:id="R716901e1625a409e"/>
    <p:sldId xmlns:r="http://schemas.openxmlformats.org/officeDocument/2006/relationships" id="257" r:id="R36a38ad6bf134e02"/>
    <p:sldId xmlns:r="http://schemas.openxmlformats.org/officeDocument/2006/relationships" id="258" r:id="R431af36417e2405f"/>
    <p:sldId xmlns:r="http://schemas.openxmlformats.org/officeDocument/2006/relationships" id="259" r:id="Rfc15945f773949b1"/>
    <p:sldId xmlns:r="http://schemas.openxmlformats.org/officeDocument/2006/relationships" id="260" r:id="R4539843bc6894867"/>
    <p:sldId xmlns:r="http://schemas.openxmlformats.org/officeDocument/2006/relationships" id="261" r:id="Re3e0a76f81a84ed8"/>
    <p:sldId xmlns:r="http://schemas.openxmlformats.org/officeDocument/2006/relationships" id="262" r:id="Re4db64b1cca5469a"/>
    <p:sldId xmlns:r="http://schemas.openxmlformats.org/officeDocument/2006/relationships" id="263" r:id="Rffc7453a34b04cea"/>
  </p:sldIdLst>
  <p:sldSz cx="9753600" cy="73152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a92fb49d0a4905" /><Relationship Type="http://schemas.openxmlformats.org/officeDocument/2006/relationships/theme" Target="/ppt/theme/theme1.xml" Id="R092f1543c5564b8a" /><Relationship Type="http://schemas.openxmlformats.org/officeDocument/2006/relationships/notesMaster" Target="/ppt/notesMasters/notesMaster1.xml" Id="R8ca833eeb7854f2c" /><Relationship Type="http://schemas.openxmlformats.org/officeDocument/2006/relationships/presProps" Target="/ppt/presProps.xml" Id="Ra8ba4dd7b4b24b34" /><Relationship Type="http://schemas.openxmlformats.org/officeDocument/2006/relationships/viewProps" Target="/ppt/viewProps.xml" Id="R0933761668834438" /><Relationship Type="http://schemas.openxmlformats.org/officeDocument/2006/relationships/tableStyles" Target="/ppt/tableStyles.xml" Id="R58ab80cb6734485e" /><Relationship Type="http://schemas.openxmlformats.org/officeDocument/2006/relationships/slide" Target="/ppt/slides/slide1.xml" Id="R716901e1625a409e" /><Relationship Type="http://schemas.openxmlformats.org/officeDocument/2006/relationships/slide" Target="/ppt/slides/slide2.xml" Id="R36a38ad6bf134e02" /><Relationship Type="http://schemas.openxmlformats.org/officeDocument/2006/relationships/slide" Target="/ppt/slides/slide3.xml" Id="R431af36417e2405f" /><Relationship Type="http://schemas.openxmlformats.org/officeDocument/2006/relationships/slide" Target="/ppt/slides/slide4.xml" Id="Rfc15945f773949b1" /><Relationship Type="http://schemas.openxmlformats.org/officeDocument/2006/relationships/slide" Target="/ppt/slides/slide5.xml" Id="R4539843bc6894867" /><Relationship Type="http://schemas.openxmlformats.org/officeDocument/2006/relationships/slide" Target="/ppt/slides/slide6.xml" Id="Re3e0a76f81a84ed8" /><Relationship Type="http://schemas.openxmlformats.org/officeDocument/2006/relationships/slide" Target="/ppt/slides/slide7.xml" Id="Re4db64b1cca5469a" /><Relationship Type="http://schemas.openxmlformats.org/officeDocument/2006/relationships/slide" Target="/ppt/slides/slide8.xml" Id="Rffc7453a34b04c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67098fd22a644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e1d38769fc4cd0" /><Relationship Type="http://schemas.openxmlformats.org/officeDocument/2006/relationships/notesMaster" Target="/ppt/notesMasters/notesMaster1.xml" Id="R00a05b2d913c4e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03a4c75a794d2d" /><Relationship Type="http://schemas.openxmlformats.org/officeDocument/2006/relationships/notesMaster" Target="/ppt/notesMasters/notesMaster1.xml" Id="Re4ffa0308fb045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5ebd43067bc46b8" /><Relationship Type="http://schemas.openxmlformats.org/officeDocument/2006/relationships/notesMaster" Target="/ppt/notesMasters/notesMaster1.xml" Id="R36493e4d8b374f5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6b9ba34bdb4980" /><Relationship Type="http://schemas.openxmlformats.org/officeDocument/2006/relationships/notesMaster" Target="/ppt/notesMasters/notesMaster1.xml" Id="R4512b90e01b54a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edc407496743a3" /><Relationship Type="http://schemas.openxmlformats.org/officeDocument/2006/relationships/notesMaster" Target="/ppt/notesMasters/notesMaster1.xml" Id="Rf03c05da11054f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97fc1ba201f471d" /><Relationship Type="http://schemas.openxmlformats.org/officeDocument/2006/relationships/notesMaster" Target="/ppt/notesMasters/notesMaster1.xml" Id="Rb58964e1305c4f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5bab99022c4a97" /><Relationship Type="http://schemas.openxmlformats.org/officeDocument/2006/relationships/notesMaster" Target="/ppt/notesMasters/notesMaster1.xml" Id="Rd9b9ddac069f420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8827e7112854167" /><Relationship Type="http://schemas.openxmlformats.org/officeDocument/2006/relationships/notesMaster" Target="/ppt/notesMasters/notesMaster1.xml" Id="Ra8dd0d0a992e41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9ac1f57644493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321b48a37944376" /><Relationship Type="http://schemas.openxmlformats.org/officeDocument/2006/relationships/slideLayout" Target="/ppt/slideLayouts/slideLayout2.xml" Id="Rcdeadaec2b3c4b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eadaec2b3c4b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9f61b3fbc64095" /><Relationship Type="http://schemas.openxmlformats.org/officeDocument/2006/relationships/notesSlide" Target="/ppt/notesSlides/notesSlide1.xml" Id="Rc8ff16180a084e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dca88c6f5e4d21" /><Relationship Type="http://schemas.openxmlformats.org/officeDocument/2006/relationships/notesSlide" Target="/ppt/notesSlides/notesSlide2.xml" Id="R233c4a070bb645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a281d989df45d3" /><Relationship Type="http://schemas.openxmlformats.org/officeDocument/2006/relationships/notesSlide" Target="/ppt/notesSlides/notesSlide3.xml" Id="R187a2b70a3e645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5a6363910549aa" /><Relationship Type="http://schemas.openxmlformats.org/officeDocument/2006/relationships/notesSlide" Target="/ppt/notesSlides/notesSlide4.xml" Id="R50f505ba614d44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2dde53e6574b6c" /><Relationship Type="http://schemas.openxmlformats.org/officeDocument/2006/relationships/notesSlide" Target="/ppt/notesSlides/notesSlide5.xml" Id="Rb19a946df9e440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1e132646114938" /><Relationship Type="http://schemas.openxmlformats.org/officeDocument/2006/relationships/notesSlide" Target="/ppt/notesSlides/notesSlide6.xml" Id="R16d60cd232fd4df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e2f2875d07487d" /><Relationship Type="http://schemas.openxmlformats.org/officeDocument/2006/relationships/notesSlide" Target="/ppt/notesSlides/notesSlide7.xml" Id="Rc5113976f580453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23177e4d804b5f" /><Relationship Type="http://schemas.openxmlformats.org/officeDocument/2006/relationships/notesSlide" Target="/ppt/notesSlides/notesSlide8.xml" Id="R9d4c0ae2bed44c5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C439F0-A4C7-4216-84F3-B1FB5AFB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8858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From routing compatibility to downstream utility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B3A497-053F-4E18-BC97-794FEA9F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33450"/>
            <a:ext cx="857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Bridge from Thesis_experiment_v2 into the current generated-embedding experiments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5ADE9B-14FD-4645-BCA7-949B21A3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876300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9049">
            <a:solidFill>
              <a:srgbClr val="77777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A649F2-4FAD-4AAE-9D0B-B3A96524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04975"/>
            <a:ext cx="849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Bridge from Thesis_experiment_v2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614FFD-8881-4B7B-A7BA-FB1D3609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14525"/>
            <a:ext cx="84963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old deck ended before downstream application experiments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67C105-65DC-42E0-963D-6F0350FE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19350"/>
            <a:ext cx="200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A8A8A"/>
            </a:solidFill>
            <a:prstDash val="solid"/>
          </a:ln>
        </p:spPr>
        <p:txBody>
          <a:bodyPr xmlns:a="http://schemas.openxmlformats.org/drawingml/2006/main" lIns="47625" tIns="38100" rIns="47625" bIns="3810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Previous endpoint</a:t>
            </a:r>
          </a:p>
          <a:p xmlns:a="http://schemas.openxmlformats.org/drawingml/2006/main">
            <a:pPr algn="ctr">
              <a:defRPr sz="8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target-local support-NELBO was the cleanest routing-phase compatibility estimate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3E9925-F6D2-46BA-B426-7D4AD91F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66536"/>
            <a:ext cx="523875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19FD08-6033-47AC-89A8-DF05C34D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514725" y="2728913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CFB0A1-7938-4F46-AEBB-F46D2A1F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19350"/>
            <a:ext cx="200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A8A8A"/>
            </a:solidFill>
            <a:prstDash val="solid"/>
          </a:ln>
        </p:spPr>
        <p:txBody>
          <a:bodyPr xmlns:a="http://schemas.openxmlformats.org/drawingml/2006/main" lIns="47625" tIns="38100" rIns="47625" bIns="3810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New question</a:t>
            </a:r>
          </a:p>
          <a:p xmlns:a="http://schemas.openxmlformats.org/drawingml/2006/main">
            <a:pPr algn="ctr">
              <a:defRPr sz="8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does the selected generator produce embeddings useful for a held-out downstream task?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A520E0-5F42-482B-85FC-2DCF8B3BB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766536"/>
            <a:ext cx="523875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D09E6F-5055-4ECC-8480-E844BB4F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296025" y="2728913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5631C3-B960-4BBB-B69C-8CF6B510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19350"/>
            <a:ext cx="200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  <p:txBody>
          <a:bodyPr xmlns:a="http://schemas.openxmlformats.org/drawingml/2006/main" lIns="47625" tIns="38100" rIns="47625" bIns="3810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Current synthesis</a:t>
            </a:r>
          </a:p>
          <a:p xmlns:a="http://schemas.openxmlformats.org/drawingml/2006/main">
            <a:pPr algn="ctr">
              <a:defRPr sz="8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clean PASS is dense reliability-weighted all4 generated-embedding aggregation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B93B8A-6B34-4FE7-B3BC-163A4128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848100"/>
            <a:ext cx="66675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8A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C7AAC3-ED18-447D-8A99-34810937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52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E924F0-C780-4028-8491-1ECC2A6A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624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routing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BCFEEC-937D-4D3A-87D9-03313671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752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CE0168-BAE4-478D-B50F-934CD6AF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9624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downstream scoring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748197-24CE-4726-ACA5-77994137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752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65C45E-9EB6-4422-AFED-D27E7EE8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9624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bottleneck hunting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A34700-733B-45A5-8479-AAAA174B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752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C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1A4E93-D1B1-4480-BF48-DAF647EA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9624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dense all4 PASS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9B69BB-0139-4B9C-BF22-45B9DAEE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067300"/>
            <a:ext cx="647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6C8"/>
          </a:solidFill>
          <a:ln xmlns:a="http://schemas.openxmlformats.org/drawingml/2006/main" w="7144">
            <a:solidFill>
              <a:srgbClr val="F3BD62"/>
            </a:solidFill>
            <a:prstDash val="solid"/>
          </a:ln>
        </p:spPr>
        <p:txBody>
          <a:bodyPr xmlns:a="http://schemas.openxmlformats.org/drawingml/2006/main" lIns="47625" tIns="38100" rIns="47625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Narrative for the meetup</a:t>
            </a:r>
          </a:p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 moved from estimating compatibility to testing whether generated embeddings preserve downstream utility.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E43DCE-0874-45B6-89CE-D7810378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9626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Draft synthesis deck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3B34E9-0A31-4238-9FD5-985EC9154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Stephanus Park, 15.05.26 - Pitch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940A16-BDA4-41D0-944E-2DC1FC96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76275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846176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AEAF49-AF35-4FC5-A9F1-F92C6D33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8858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Where the last deck stopped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A99E3A-64D1-481A-864F-A5D3C359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33450"/>
            <a:ext cx="857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It solved the routing-phase estimator question, not the downstream application question.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E88B05-1B12-457E-89D6-BE1F0CF1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62100"/>
            <a:ext cx="262890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77777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814B05-FA64-4F11-BD2D-A88E9067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85925"/>
            <a:ext cx="2362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Metadata identity was insufficient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A40237-2709-49AD-A615-48E9F4B8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95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6E4A0B-DCC3-410A-AEC6-4654F3DC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47900"/>
            <a:ext cx="1962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center/batch descriptors did not recover routing compatibility on their own.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D23F41-ED34-4E13-A81F-BB4BC317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33161"/>
            <a:ext cx="66675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8A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998056-2A64-4A9F-BE3E-9AD2BAF7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381375" y="2395538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A8A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F19BC4-9C28-43ED-9ADC-B2A60A9F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562100"/>
            <a:ext cx="262890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77777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1B74DB-8050-4F64-98AD-122BA13A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685925"/>
            <a:ext cx="2362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Source-only proxies were brittle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01641B-FCCA-4698-A58E-EBFD79BD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95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52F115-DCD5-4453-9657-71BA575E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247900"/>
            <a:ext cx="1962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learned utility and source-only proxy routes were useful but unstable.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303894-6B94-4D25-975A-C6996DE9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33161"/>
            <a:ext cx="66675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8A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512FF7-032F-4737-9766-CB6A2757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334125" y="2395538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A8A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2567C4-A8E5-4C9E-BB14-C27A7BC2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62100"/>
            <a:ext cx="262890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77777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5522F8-AEA6-418C-9EB9-6441DAB60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685925"/>
            <a:ext cx="2362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Target-local support-NELBO won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785849-E904-4F4E-8160-141D9061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95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3AE57D-22D0-4E58-8B66-6F767235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47900"/>
            <a:ext cx="1962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direct support-NELBO was the strongest thesis-facing routing result.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15DB6A-1C0B-4366-8E4B-99945944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38600"/>
            <a:ext cx="7048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10001">
            <a:solidFill>
              <a:srgbClr val="11111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932EE0-55F7-4AF4-994A-D5EB8CB3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162425"/>
            <a:ext cx="6781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Bridge question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D55122-8AA1-4CA8-AE4F-7DAD5DE6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419600"/>
            <a:ext cx="6019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If support-NELBO can choose a compatible expert, do its generated embeddings help a downstream classifier?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07D2ED-829E-4FF6-BF79-D7DCDAB1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448300"/>
            <a:ext cx="514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6C8"/>
          </a:solidFill>
          <a:ln xmlns:a="http://schemas.openxmlformats.org/drawingml/2006/main" w="7144">
            <a:solidFill>
              <a:srgbClr val="F3BD62"/>
            </a:solidFill>
            <a:prstDash val="solid"/>
          </a:ln>
        </p:spPr>
        <p:txBody>
          <a:bodyPr xmlns:a="http://schemas.openxmlformats.org/drawingml/2006/main" lIns="47625" tIns="38100" rIns="47625" bIns="3810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Important shift</a:t>
            </a:r>
          </a:p>
          <a:p xmlns:a="http://schemas.openxmlformats.org/drawingml/2006/main">
            <a:pPr algn="ctr">
              <a:defRPr sz="8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NELBO remains the routing signal; downstream BACC becomes the second-stage utility target.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129F68-2E3D-43BD-887B-47CF9FC3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9817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Bridge: routing compatibility first, downstream utility second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96CD9C-656D-461A-93E1-D0253BD9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Stephanus Park, 15.05.26 - Pitch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83FA0D-0C7D-42C6-B239-09A1691E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76275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307557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3DF2AD-8D00-4185-A12F-1AC54F89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8858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First downstream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08AB41-5918-43A9-A7CD-9F5E807A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33450"/>
            <a:ext cx="857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Lock the routing decision, then measure generated-embedding utility on held-out target data.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711EB9-BBA3-4D8C-8628-E957E603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19250"/>
            <a:ext cx="20764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8A8A8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2A82ED-0F3D-400D-99B5-237F35FE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Target support S_T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F0ED84-4FD9-46A3-BE1E-BFA23167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1336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5FA559-1A80-4741-95B5-320FDD52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2002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BE2AE8-0DAF-4D48-9F5B-F45DBEB6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28900"/>
            <a:ext cx="1543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unlabeled support enters routing 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95176B-B29E-445F-A63D-E4B83297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404586"/>
            <a:ext cx="47625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8AB042-F5C8-4C9D-830C-21D240C0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676525" y="2366963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A1B64A-C717-4D52-81B1-88F61ECE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19250"/>
            <a:ext cx="20764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8A8A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CC84AB-263D-4438-B3E0-D132603F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74307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support-NELBO route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CF70C0-292A-4633-9C42-AE5032D8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1336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F76780-38E5-4241-A16C-B1D65260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2002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81DA5D-02ED-4D67-AF37-1330A007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28900"/>
            <a:ext cx="1543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select the source CVAE before generation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0FFE1D-1D16-4C32-960B-A2662258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04586"/>
            <a:ext cx="47625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554485-484A-4D05-BF5A-7A2FEE45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019675" y="2366963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1D9171-41F4-4518-9F60-0403BF89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619250"/>
            <a:ext cx="20764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8A8A8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9502F0-6F48-45EA-B874-47E8AA8E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74307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Synthetic embeddings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183BDB-F8B9-43FF-9A22-C6D7984E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1336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713788-17FC-46DC-B310-FC61DF62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2002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B6E5E3-AEA6-494D-BB4F-85C2A0F2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628900"/>
            <a:ext cx="1543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generate from frozen source experts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502D16-B56B-4AB9-A5BC-BF113708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04586"/>
            <a:ext cx="47625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310309-A47D-4986-8DD0-62580270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362825" y="2366963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6B6B11-3FD9-4D21-92B2-E9B8FF9D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619250"/>
            <a:ext cx="20764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11111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FE0C13-35E1-4B3B-BC11-18952D26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74307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Held-out E_T BACC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43F2B1-A989-4026-9170-D9FFE926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336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C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56974A-63A3-42D2-85A1-D10C61AFE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002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165439-5CA0-4F84-8340-17D34DA6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28900"/>
            <a:ext cx="1543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score only after decisions are locked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40EA76-8D1C-44D8-BD95-97C311CE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35433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049">
            <a:solidFill>
              <a:srgbClr val="77777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CBAA96-B2D2-4F14-B6D0-5AA93946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71925"/>
            <a:ext cx="3276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changed relative to the old deck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5C23E3-1D5A-4922-8D5A-96BFE2D4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910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71DCBA-ECE1-4249-8324-306D7F41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4340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Support-NELBO is no longer the final artifact; it becomes the route into a downstream test.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D8CC72-6890-46D3-8AB8-D31236D8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848100"/>
            <a:ext cx="35433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049">
            <a:solidFill>
              <a:srgbClr val="77777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EFF56C-8B59-4637-ABC2-2B51129D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971925"/>
            <a:ext cx="3276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the first downstream protocol added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23A0A9-2185-46EA-98A3-B9F474DC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3910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7654F45-0B5C-4216-9A84-7EE71FA0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34340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Every candidate expert gets a synthetic downstream score; the oracle is diagnostic only.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720F99-7147-477B-A46B-D8A8B12F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62550"/>
            <a:ext cx="68199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8A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6DDC03A-D85E-402A-8C55-7D3B2715E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410200"/>
            <a:ext cx="571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6C8"/>
          </a:solidFill>
          <a:ln xmlns:a="http://schemas.openxmlformats.org/drawingml/2006/main" w="7144">
            <a:solidFill>
              <a:srgbClr val="F3BD62"/>
            </a:solidFill>
            <a:prstDash val="solid"/>
          </a:ln>
        </p:spPr>
        <p:txBody>
          <a:bodyPr xmlns:a="http://schemas.openxmlformats.org/drawingml/2006/main" lIns="47625" tIns="38100" rIns="47625" bIns="3810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Resulting bottleneck hunt</a:t>
            </a:r>
          </a:p>
          <a:p xmlns:a="http://schemas.openxmlformats.org/drawingml/2006/main">
            <a:pPr algn="ctr">
              <a:defRPr sz="8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When support-selected generation was not enough, I tested whether the bottleneck was representation, prior sampling, or composition.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992DA8-7F70-4347-A1B4-D73EBB3A5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981700"/>
            <a:ext cx="396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Evidence anchors: downstream protocol, thesis alignment, direct support-NELBO carryover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3CA78C0-4F7D-4D5F-B4C7-61CE7772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Stephanus Park, 15.05.26 - Pitch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D426BAC-7603-48A4-9574-C20AE4E2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76275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48343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DD2972-6461-437A-AF59-AACB1E1A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8858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Bottleneck 1: representation signal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7C7A40-DFE4-4C3F-8CEA-E199D86B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33450"/>
            <a:ext cx="857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 first checked whether pathology-tuned backbones improved downstream transfer.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038954-4CAD-4999-8116-CF8E2467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4095750" cy="32766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77777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E60FC2-FEBC-4E0B-AA0B-38BB292D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85925"/>
            <a:ext cx="382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Proof object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3DC816-9E55-4401-858C-C2DDDF263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95475"/>
            <a:ext cx="38290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why Virchow2 became the main feature space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83942E-21A8-45C2-BA0F-EA2544E2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16002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A8A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316C4F-7D2D-4383-9E0C-D49FE7AC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13716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+0.0931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1E6A76-A593-4BAE-8703-195CC7F0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098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mean delta vs Z1.1 DINOv2/PCA64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E07E88-A9A7-4099-8683-8DA77881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52650"/>
            <a:ext cx="16002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A8A8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3F5FC6-EECA-4DE6-8F4F-72179A10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266950"/>
            <a:ext cx="13716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0.9155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13C857-9FAF-49E2-AE71-EC821816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6098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source-selected Virchow2 mean BACC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FF0721-3C2D-4C97-B4C0-8A346DDB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76600"/>
            <a:ext cx="16002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A8A8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7F3A7A-C3DF-4A23-9B6F-DFEB8B02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390900"/>
            <a:ext cx="13716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0.9474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8C6803-D79B-46AC-A1CC-69584CAB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73380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posthoc target-eval BACC; audit-only ceiling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33B5BF-C0D6-4895-B47C-3B830CDB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340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8A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CA1A6D-3BCF-44AC-9601-245A9178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1960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Interpretation: pathology-tuned features gave the best real-feature source-only transfer surface.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7A6786-52EE-4BD1-9DF8-1870B7E92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562100"/>
            <a:ext cx="4000500" cy="32766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049">
            <a:solidFill>
              <a:srgbClr val="77777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220B4C-1AF9-4B58-B8F9-850C7CA5E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685925"/>
            <a:ext cx="3733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Decision made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E17D1B-4AD3-4C6C-9544-9D45ACB1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895475"/>
            <a:ext cx="37338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changed after the backbone result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53C991-ECFA-4D2E-9B5A-997498E1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3145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D43CD9-4EFC-4B27-9939-BCAB08AA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66950"/>
            <a:ext cx="3009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Move from the DINOv2/PCA64 downstream surface to a pathology foundation backbone.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4FD899-8118-4ACD-970C-51409C32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9622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76A854-61F5-462A-9E4C-17C4BBAD6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14650"/>
            <a:ext cx="3009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Virchow2 as the feature space that a CVAE preservation test must model.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0C5E24-A2F9-44C3-A072-318A2631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099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041B7D-ACCA-4F62-A96D-C469EADE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62350"/>
            <a:ext cx="3009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Keep real-feature Virchow2 as the reference path; generated utility still had to be proven.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0D4846-26D4-44DF-93F9-84827961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257800"/>
            <a:ext cx="601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6C8"/>
          </a:solidFill>
          <a:ln xmlns:a="http://schemas.openxmlformats.org/drawingml/2006/main" w="7144">
            <a:solidFill>
              <a:srgbClr val="F3BD62"/>
            </a:solidFill>
            <a:prstDash val="solid"/>
          </a:ln>
        </p:spPr>
        <p:txBody>
          <a:bodyPr xmlns:a="http://schemas.openxmlformats.org/drawingml/2006/main" lIns="47625" tIns="38100" rIns="47625" bIns="3810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Bridge to the next pivot</a:t>
            </a:r>
          </a:p>
          <a:p xmlns:a="http://schemas.openxmlformats.org/drawingml/2006/main">
            <a:pPr algn="ctr">
              <a:defRPr sz="78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once Virchow2 worked, the weak point was no longer the backbone; it was the latent prior and composition rule.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033CB1-3F90-46B8-8F08-7E69646E2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81700"/>
            <a:ext cx="510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Claim discipline: real-feature evidence motivates the generated experiment; it does not prove generated utility.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3F3278-F0A1-430B-854C-325A2D6B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Stephanus Park, 15.05.26 - Pitch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4399A3-B089-46CD-9F9C-210AB0C7D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76275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351528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05ABD6-94D7-4C25-B286-0599D716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8858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Bottleneck 2: latent prior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5A214A-5381-405D-81E3-176BB6A7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33450"/>
            <a:ext cx="857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normal prior was misaligned; diagnostics separated decoder capacity from sampling.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0B96A3-2005-48D8-92B8-558EF3C3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49911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77777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58BD4F-8153-44E7-823D-E5927ED0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04975"/>
            <a:ext cx="472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Latent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B0C152-7FDF-4806-AFD0-9C77F7C8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14525"/>
            <a:ext cx="47244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same feature family, different sampling assumptions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DC9D34-F47F-4FC5-B13A-119F805E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6220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Vanilla N(0,I) prior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259D14-F4A2-491E-B244-F4224764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622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0.5425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6B6616-689D-4CB6-8CA8-5CB76BFD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00300"/>
            <a:ext cx="16383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8A8A8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3CDD4F-B24D-4C97-9EFF-88E26074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00300"/>
            <a:ext cx="884682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39D20A-2A9B-47A9-BF11-D6B63041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9085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decode(mu)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83F627-3771-4B45-901E-0E51154C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9908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0.8572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388977-4B2F-43F1-A7AD-8E556FD0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28950"/>
            <a:ext cx="16383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8A8A8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38FD80-364A-4094-91D2-79F62F440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28950"/>
            <a:ext cx="1408938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C04C37-0F33-4310-8EB9-23068109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source-union K16 GMM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46F09C-31A8-4321-9A2E-90C74C1B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195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0.8924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02EB81-AE26-4D73-AF9F-051E0EDC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57600"/>
            <a:ext cx="16383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8A8A8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5921F6-62A9-4EB2-B040-04B0F91B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57600"/>
            <a:ext cx="1458087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8D9F58-1B39-4AFC-8758-AB3E6C66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0530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8A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68632E-ADBF-49B1-9703-101C88E0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43400"/>
            <a:ext cx="3924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useful region existed; plain standard-normal sampling did not land there reliably.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491F9E-605A-419E-BB5F-9D0A2DF6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581150"/>
            <a:ext cx="3143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049">
            <a:solidFill>
              <a:srgbClr val="77777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34102F-AC20-48F7-9A6A-0670DE98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04975"/>
            <a:ext cx="2876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Inference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71CF27-C894-4804-B55C-29BA2F8B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14525"/>
            <a:ext cx="28765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this ruled in and out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274A26-24CF-474C-B9A4-21A79F15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526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52BAE5-768E-4968-B313-BE11C1A0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05050"/>
            <a:ext cx="2247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decoder could carry Virchow2 downstream structure.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1EE5CF-C0F2-432D-8217-ECF8D6B9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432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A0D463-C2A4-4D03-AE79-304EA7C0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95600"/>
            <a:ext cx="2247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bottleneck was latent sampling and how source experts were composed.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B27547-041C-4CB5-A44A-96C5D040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099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317853-B972-4760-A185-A139E419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6235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K16 result was diagnostic, but centralized and not a deployable thesis method.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A7E702-F3C3-4D84-ABDB-8565039B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257800"/>
            <a:ext cx="533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6C8"/>
          </a:solidFill>
          <a:ln xmlns:a="http://schemas.openxmlformats.org/drawingml/2006/main" w="7144">
            <a:solidFill>
              <a:srgbClr val="F3BD62"/>
            </a:solidFill>
            <a:prstDash val="solid"/>
          </a:ln>
        </p:spPr>
        <p:txBody>
          <a:bodyPr xmlns:a="http://schemas.openxmlformats.org/drawingml/2006/main" lIns="47625" tIns="38100" rIns="47625" bIns="3810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Decision</a:t>
            </a:r>
          </a:p>
          <a:p xmlns:a="http://schemas.openxmlformats.org/drawingml/2006/main">
            <a:pPr algn="ctr">
              <a:defRPr sz="8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search for a source-only composition rule instead of claiming a plain CVAE prior.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33BC99-0E87-4CA3-AA44-4E490B09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981700"/>
            <a:ext cx="3486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Claim boundary: K16 proves recoverability, not a decentralized solution.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CBEC8E-6F75-4469-95E8-8C3717D9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Stephanus Park, 15.05.26 - Pitch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C37A92-11FD-4BF3-B285-3431AE1A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76275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8226043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E44623-8EF5-4CF7-A18C-EFBBD2A4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8858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Bottleneck 3: composition and routing risk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783FAA-1D7A-47C4-BBEE-2C497540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33450"/>
            <a:ext cx="857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Support-NELBO remained useful for routing, but did not become a clean downstream selector.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C12BFC-6A0D-4FF7-A16C-3FBFB983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5962650" cy="37338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77777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7564A3-AF56-40B0-8270-3760C637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47825"/>
            <a:ext cx="5695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Artifact history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F12DE7-91FC-4A3B-B3AC-0DAB9142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57375"/>
            <a:ext cx="56959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survived as thesis-facing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63A912-B82C-49FA-AB23-35472693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666666"/>
                </a:solidFill>
                <a:latin typeface="Arial"/>
                <a:ea typeface="Arial"/>
                <a:cs typeface="Arial"/>
              </a:rPr>
              <a:t>attempt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99A125-F830-48EB-A448-7B410CFB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95500"/>
            <a:ext cx="685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666666"/>
                </a:solidFill>
                <a:latin typeface="Arial"/>
                <a:ea typeface="Arial"/>
                <a:cs typeface="Arial"/>
              </a:rPr>
              <a:t>mean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0106E4-9F4C-482A-B67D-92B7F707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95500"/>
            <a:ext cx="95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666666"/>
                </a:solidFill>
                <a:latin typeface="Arial"/>
                <a:ea typeface="Arial"/>
                <a:cs typeface="Arial"/>
              </a:rPr>
              <a:t>audit signal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04E281-9D6D-46CC-8B6D-3463CA0B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95500"/>
            <a:ext cx="1409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666666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772E0A-6266-4774-8624-8A447D40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518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8A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938112-D7E3-46B2-AF35-062F8751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E19102-C9A2-40A3-868B-1AB5BBDC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D1.2 reliability GMM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63DC0C-F5E2-44AE-B8CE-54BFEC2F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45745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0.8493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1DFA87-2201-495C-8174-00BB6795A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5745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9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stable source signal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2A9C4F-BEB9-4C54-BEED-AB7DAAA5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47925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111111"/>
            </a:solidFill>
            <a:prstDash val="solid"/>
          </a:ln>
        </p:spPr>
        <p:txBody>
          <a:bodyPr xmlns:a="http://schemas.openxmlformats.org/drawingml/2006/main" lIns="47625" tIns="38100" rIns="47625" bIns="38100" anchor="ctr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6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keep reliability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9CD251-F60C-4FDF-86BD-9410001A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2417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400256-86DC-4618-8048-AB1D6A29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D1.3 support-NELBO x reliability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1FF576-6DC9-4678-9F2C-7484EF10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4800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0.8495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0E8DCF-975B-4ACB-9362-F417A92D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4800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9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shuffle competitive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8DD323-F86E-4305-95D8-787D9476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38475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144">
            <a:solidFill>
              <a:srgbClr val="8A8A8A"/>
            </a:solidFill>
            <a:prstDash val="solid"/>
          </a:ln>
        </p:spPr>
        <p:txBody>
          <a:bodyPr xmlns:a="http://schemas.openxmlformats.org/drawingml/2006/main" lIns="47625" tIns="38100" rIns="47625" bIns="38100" anchor="ctr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6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not final selector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F9BFED-DBE8-4D6D-8BDE-CF16BEA7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B3ABB4-E6CC-4F25-B0EC-2E8DA0B0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D1.5 source-inner transfer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DB3834-6583-4C4F-A394-CB67F1DE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63855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0.8354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02E46A-9CDB-461F-B12E-037F0678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3855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9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Spearman -0.1102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BA836B-04B2-4AE6-8C0A-DDC61B46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29025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144">
            <a:solidFill>
              <a:srgbClr val="8A8A8A"/>
            </a:solidFill>
            <a:prstDash val="solid"/>
          </a:ln>
        </p:spPr>
        <p:txBody>
          <a:bodyPr xmlns:a="http://schemas.openxmlformats.org/drawingml/2006/main" lIns="47625" tIns="38100" rIns="47625" bIns="38100" anchor="ctr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6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reject routing claim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0FC7FD-08D3-47DF-8C89-0D0E9DF2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0527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2DD309-BA5A-4280-B1EB-B6A9BDA0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291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component / mass / tail diagnostics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9C0DC8-CE6A-4E4B-A9DB-5D6829A5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2910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0.8892+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690D21-4532-463B-A0DF-B85E16F1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2910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9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controls or tail fail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4F7046-D777-4517-AD0A-32FA59024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19575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144">
            <a:solidFill>
              <a:srgbClr val="8A8A8A"/>
            </a:solidFill>
            <a:prstDash val="solid"/>
          </a:ln>
        </p:spPr>
        <p:txBody>
          <a:bodyPr xmlns:a="http://schemas.openxmlformats.org/drawingml/2006/main" lIns="47625" tIns="38100" rIns="47625" bIns="38100" anchor="ctr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6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not thesis-facing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F3E132-4ABA-4269-BA7B-7A45CB32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524000"/>
            <a:ext cx="2476500" cy="37338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049">
            <a:solidFill>
              <a:srgbClr val="77777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B10FCF-AD31-4CB6-9F07-298A117B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647825"/>
            <a:ext cx="2209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Final constraints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D57BB90-8310-41C3-9D34-590AD5DA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857375"/>
            <a:ext cx="22098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method had to obey all four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4EFC00-0C64-474E-8211-B347A2ED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22885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A8A8A"/>
            </a:solidFill>
            <a:prstDash val="solid"/>
          </a:ln>
        </p:spPr>
        <p:txBody>
          <a:bodyPr xmlns:a="http://schemas.openxmlformats.org/drawingml/2006/main" lIns="47625" tIns="38100" rIns="47625" bIns="3810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no target labels</a:t>
            </a:r>
          </a:p>
          <a:p xmlns:a="http://schemas.openxmlformats.org/drawingml/2006/main">
            <a:pPr algn="ctr">
              <a:defRPr sz="71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until final scoring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8CCE73-A411-4254-8198-E8BE2E90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78130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A8A8A"/>
            </a:solidFill>
            <a:prstDash val="solid"/>
          </a:ln>
        </p:spPr>
        <p:txBody>
          <a:bodyPr xmlns:a="http://schemas.openxmlformats.org/drawingml/2006/main" lIns="47625" tIns="38100" rIns="47625" bIns="3810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no sparse route</a:t>
            </a:r>
          </a:p>
          <a:p xmlns:a="http://schemas.openxmlformats.org/drawingml/2006/main">
            <a:pPr algn="ctr">
              <a:defRPr sz="71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all four sources retained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87E1F27-DE12-4C77-8647-31C15577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33375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A8A8A"/>
            </a:solidFill>
            <a:prstDash val="solid"/>
          </a:ln>
        </p:spPr>
        <p:txBody>
          <a:bodyPr xmlns:a="http://schemas.openxmlformats.org/drawingml/2006/main" lIns="47625" tIns="38100" rIns="47625" bIns="3810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soft reliability</a:t>
            </a:r>
          </a:p>
          <a:p xmlns:a="http://schemas.openxmlformats.org/drawingml/2006/main">
            <a:pPr algn="ctr">
              <a:defRPr sz="71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source-only influence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7C8ED1C-9562-4CC2-B84B-B4C23F66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88620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A8A8A"/>
            </a:solidFill>
            <a:prstDash val="solid"/>
          </a:ln>
        </p:spPr>
        <p:txBody>
          <a:bodyPr xmlns:a="http://schemas.openxmlformats.org/drawingml/2006/main" lIns="47625" tIns="38100" rIns="47625" bIns="3810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paired audit</a:t>
            </a:r>
          </a:p>
          <a:p xmlns:a="http://schemas.openxmlformats.org/drawingml/2006/main">
            <a:pPr algn="ctr">
              <a:defRPr sz="71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same generated cells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D87A86C-39B1-4A45-8808-99461C5F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600700"/>
            <a:ext cx="6019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6C8"/>
          </a:solidFill>
          <a:ln xmlns:a="http://schemas.openxmlformats.org/drawingml/2006/main" w="7144">
            <a:solidFill>
              <a:srgbClr val="F3BD62"/>
            </a:solidFill>
            <a:prstDash val="solid"/>
          </a:ln>
        </p:spPr>
        <p:txBody>
          <a:bodyPr xmlns:a="http://schemas.openxmlformats.org/drawingml/2006/main" lIns="47625" tIns="38100" rIns="47625" bIns="3810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Resulting decision</a:t>
            </a:r>
          </a:p>
          <a:p xmlns:a="http://schemas.openxmlformats.org/drawingml/2006/main">
            <a:pPr algn="ctr">
              <a:defRPr sz="8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keep the old support-NELBO claim in the routing phase; use dense all4 reliability pooling for downstream generated embeddings.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483E6AE-691D-4601-B4A2-1563D076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6096000"/>
            <a:ext cx="4705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The claim changed from selecting the right source to preserving utility through dense composition.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D0E7388-A455-496B-919F-2A91A9B6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Stephanus Park, 15.05.26 - Pitch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5620A4D-DAE9-4513-8781-D10DE549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76275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564860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B55C44-3C2B-444E-8E07-D38558E8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8858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Paired dense-all4 reliability confirmation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43DA10-5038-460D-B214-0E5EFF55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33450"/>
            <a:ext cx="857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clean PASS is not a sparse route: all non-target CVAEs contribute, reliability only sets soft influence.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8B04AA-C153-48DF-B2F9-C8B1809D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43050"/>
            <a:ext cx="2286000" cy="30670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77777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566039-F919-4CBA-A751-D552C3D5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2019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Source-only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DA8091-9DC9-4456-8CF0-32012AE8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76425"/>
            <a:ext cx="20193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target center excluded from every estimate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FD9EBF-55E5-4571-8CC4-7F4B82C9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543050"/>
            <a:ext cx="3333750" cy="3067050"/>
          </a:xfrm>
          <a:prstGeom xmlns:a="http://schemas.openxmlformats.org/drawingml/2006/main" prst="roundRect">
            <a:avLst>
              <a:gd name="adj" fmla="val 24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77777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2D96B5-124E-4B7F-A36A-610D84BF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666875"/>
            <a:ext cx="3067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Paired dense-all4 synthesis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C60FEB-BCDF-473D-8555-7C395788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876425"/>
            <a:ext cx="30670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same four-source set; no expert is dropped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9A8801-769D-4B9F-A6DD-4088259AE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43050"/>
            <a:ext cx="2647950" cy="30670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77777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781FF2-A952-4FC5-A277-A40A2663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66875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Prediction pool + 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ECE083-C4B2-4269-BC19-212C7F03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876425"/>
            <a:ext cx="23812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combine probabilities, then score held-out target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5F2BE9-B00F-43D5-B891-63B3B508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80861"/>
            <a:ext cx="238125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79AA0F-E754-42D5-83AA-6AD5E532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962275" y="3043238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5A9CCF-C2BD-491C-BBA9-5FC8ED20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80861"/>
            <a:ext cx="238125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2B137D-B0DB-4E9B-9CFD-73D06EA3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600825" y="3043238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2903BE-2323-4B02-8E76-DAF41F02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1866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experts + reliability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EF9B0E-CEF3-4DBC-8F3D-740E0660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1943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8A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5B4198-082E-4465-9F49-5F4DB424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8191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A8A8A"/>
            </a:solidFill>
            <a:prstDash val="solid"/>
          </a:ln>
        </p:spPr>
        <p:txBody>
          <a:bodyPr xmlns:a="http://schemas.openxmlformats.org/drawingml/2006/main" lIns="47625" tIns="38100" rIns="47625" bIns="3810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CVAE e1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F12401-D03D-4991-B672-7A8F77629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8191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A8A8A"/>
            </a:solidFill>
            <a:prstDash val="solid"/>
          </a:ln>
        </p:spPr>
        <p:txBody>
          <a:bodyPr xmlns:a="http://schemas.openxmlformats.org/drawingml/2006/main" lIns="47625" tIns="38100" rIns="47625" bIns="3810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CVAE e2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2C4255-19DB-44DC-9143-34F7BE6E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8191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A8A8A"/>
            </a:solidFill>
            <a:prstDash val="solid"/>
          </a:ln>
        </p:spPr>
        <p:txBody>
          <a:bodyPr xmlns:a="http://schemas.openxmlformats.org/drawingml/2006/main" lIns="47625" tIns="38100" rIns="47625" bIns="3810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CVAE e3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717FC1-D9BE-4F9D-BD6F-6BB8567F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8191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A8A8A"/>
            </a:solidFill>
            <a:prstDash val="solid"/>
          </a:ln>
        </p:spPr>
        <p:txBody>
          <a:bodyPr xmlns:a="http://schemas.openxmlformats.org/drawingml/2006/main" lIns="47625" tIns="38100" rIns="47625" bIns="3810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CVAE e4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87728B-AE5A-40F9-8DE1-DD162195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657475"/>
            <a:ext cx="209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D3AEE0-51D4-4277-9930-31614D1B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667000"/>
            <a:ext cx="7239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8A8A8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39AEBF-31B9-4EFC-B012-6B82449B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667000"/>
            <a:ext cx="535686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EAC4E7-EF32-4601-9019-ADBE84A38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019425"/>
            <a:ext cx="209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993717-A86E-4F0A-9407-59DABA43A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028950"/>
            <a:ext cx="7239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8A8A8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05CAE7-FA80-40D2-B1F2-AFE8BE81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028950"/>
            <a:ext cx="202692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C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D1A3FC-3E53-459A-9776-F34B2D47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381375"/>
            <a:ext cx="209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D8CD24-9D79-4548-8A80-8ECC3DDA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7239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8A8A8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387657-816B-42E8-9339-0092E2CB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65151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B4F6BD-8DCD-4D66-BC26-5123D10E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743325"/>
            <a:ext cx="209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CF77B9-F26B-45F8-8DA9-C955F9A6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752850"/>
            <a:ext cx="7239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8A8A8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A81E30-1AE5-4CFC-A7C3-D96881EC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752850"/>
            <a:ext cx="43434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BD359E-843B-4C6C-B14F-CA0069C3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79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144">
            <a:solidFill>
              <a:srgbClr val="8A8A8A"/>
            </a:solidFill>
            <a:prstDash val="solid"/>
          </a:ln>
        </p:spPr>
        <p:txBody>
          <a:bodyPr xmlns:a="http://schemas.openxmlformats.org/drawingml/2006/main" lIns="47625" tIns="38100" rIns="47625" bIns="38100" anchor="ctr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w_i = normalized reliability</a:t>
            </a:r>
          </a:p>
          <a:p xmlns:a="http://schemas.openxmlformats.org/drawingml/2006/main">
            <a:pPr algn="ctr">
              <a:defRPr sz="6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from heldout-excluded source audit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4DFB1F-6C4E-4732-A3A4-86FD2180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90750"/>
            <a:ext cx="990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weight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B5A2CC-87A9-4888-A183-62441ACA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90750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generated set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1781006-B968-496A-A98E-1A1F3A6A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190750"/>
            <a:ext cx="438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head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B256EAB-57BB-44FC-90EC-A8B851CB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00300"/>
            <a:ext cx="2876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8A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1084434-5449-4455-BCD3-8AE02CE3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0985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A8A8A"/>
            </a:solidFill>
            <a:prstDash val="solid"/>
          </a:ln>
        </p:spPr>
        <p:txBody>
          <a:bodyPr xmlns:a="http://schemas.openxmlformats.org/drawingml/2006/main" lIns="47625" tIns="38100" rIns="47625" bIns="3810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e1   |   w1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E2E839A-0A08-4315-917D-9828D61C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18911"/>
            <a:ext cx="2286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6E9ED9C-2B5A-43EF-AA36-EAE6EF80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476750" y="2681288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406C3A6-EC31-4215-AD0C-AE83C73C6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09850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A8A8A"/>
            </a:solidFill>
            <a:prstDash val="solid"/>
          </a:ln>
        </p:spPr>
        <p:txBody>
          <a:bodyPr xmlns:a="http://schemas.openxmlformats.org/drawingml/2006/main" lIns="47625" tIns="38100" rIns="47625" bIns="38100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</a:t>
            </a:r>
          </a:p>
          <a:p xmlns:a="http://schemas.openxmlformats.org/drawingml/2006/main">
            <a:pPr algn="ctr">
              <a:defRPr sz="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embeddings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F655234-998E-4DE7-ACCA-A8A0207D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718911"/>
            <a:ext cx="2286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AE7F5E8-6CF3-41B3-8591-D4DCA94E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524500" y="2681288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B384551-AFC8-4055-B10B-3A283597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60985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A8A8A"/>
            </a:solidFill>
            <a:prstDash val="solid"/>
          </a:ln>
        </p:spPr>
        <p:txBody>
          <a:bodyPr xmlns:a="http://schemas.openxmlformats.org/drawingml/2006/main" lIns="47625" tIns="38100" rIns="47625" bIns="38100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h_1</a:t>
            </a:r>
          </a:p>
          <a:p xmlns:a="http://schemas.openxmlformats.org/drawingml/2006/main">
            <a:pPr algn="ctr">
              <a:defRPr sz="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prob.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7303215-DA44-474C-8FC5-709E2594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00990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A8A8A"/>
            </a:solidFill>
            <a:prstDash val="solid"/>
          </a:ln>
        </p:spPr>
        <p:txBody>
          <a:bodyPr xmlns:a="http://schemas.openxmlformats.org/drawingml/2006/main" lIns="47625" tIns="38100" rIns="47625" bIns="3810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e2   |   w2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0FE164D-D33A-4344-AD44-48CCB32B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18961"/>
            <a:ext cx="2286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BD31008-EDDB-4B91-B5FA-57722856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476750" y="3081338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0857F6B-FAA9-49CE-A944-867F07F6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09900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A8A8A"/>
            </a:solidFill>
            <a:prstDash val="solid"/>
          </a:ln>
        </p:spPr>
        <p:txBody>
          <a:bodyPr xmlns:a="http://schemas.openxmlformats.org/drawingml/2006/main" lIns="47625" tIns="38100" rIns="47625" bIns="38100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</a:t>
            </a:r>
          </a:p>
          <a:p xmlns:a="http://schemas.openxmlformats.org/drawingml/2006/main">
            <a:pPr algn="ctr">
              <a:defRPr sz="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embeddings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06B781F-3B03-4F11-993F-3C2D49BF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118961"/>
            <a:ext cx="2286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B64D2E7-2583-4286-9AB4-23D7ADAC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524500" y="3081338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97E55BA-56F6-4D87-8FE2-4120FDB5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00990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A8A8A"/>
            </a:solidFill>
            <a:prstDash val="solid"/>
          </a:ln>
        </p:spPr>
        <p:txBody>
          <a:bodyPr xmlns:a="http://schemas.openxmlformats.org/drawingml/2006/main" lIns="47625" tIns="38100" rIns="47625" bIns="38100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h_2</a:t>
            </a:r>
          </a:p>
          <a:p xmlns:a="http://schemas.openxmlformats.org/drawingml/2006/main">
            <a:pPr algn="ctr">
              <a:defRPr sz="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prob.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FDF99AE-6C34-40A0-A32B-9F6FEC98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40995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A8A8A"/>
            </a:solidFill>
            <a:prstDash val="solid"/>
          </a:ln>
        </p:spPr>
        <p:txBody>
          <a:bodyPr xmlns:a="http://schemas.openxmlformats.org/drawingml/2006/main" lIns="47625" tIns="38100" rIns="47625" bIns="3810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e3   |   w3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68304E3-CB70-47E3-922E-79066A63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519011"/>
            <a:ext cx="2286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5375D8A-2306-4EBE-8BAE-B871CE9B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476750" y="3481388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3266A59-70D7-4375-B941-E39623416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09950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A8A8A"/>
            </a:solidFill>
            <a:prstDash val="solid"/>
          </a:ln>
        </p:spPr>
        <p:txBody>
          <a:bodyPr xmlns:a="http://schemas.openxmlformats.org/drawingml/2006/main" lIns="47625" tIns="38100" rIns="47625" bIns="38100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</a:t>
            </a:r>
          </a:p>
          <a:p xmlns:a="http://schemas.openxmlformats.org/drawingml/2006/main">
            <a:pPr algn="ctr">
              <a:defRPr sz="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embeddings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D1EBA5C-7D11-4CF2-8643-8E946F01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519011"/>
            <a:ext cx="2286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051A1AC-38B9-462D-970B-42BDB1B7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524500" y="3481388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8B66890-6A93-4883-AFCB-B05F3DF0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40995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A8A8A"/>
            </a:solidFill>
            <a:prstDash val="solid"/>
          </a:ln>
        </p:spPr>
        <p:txBody>
          <a:bodyPr xmlns:a="http://schemas.openxmlformats.org/drawingml/2006/main" lIns="47625" tIns="38100" rIns="47625" bIns="38100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h_3</a:t>
            </a:r>
          </a:p>
          <a:p xmlns:a="http://schemas.openxmlformats.org/drawingml/2006/main">
            <a:pPr algn="ctr">
              <a:defRPr sz="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prob.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F6F9CC8-0C13-49C6-B782-6EF6A920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81000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A8A8A"/>
            </a:solidFill>
            <a:prstDash val="solid"/>
          </a:ln>
        </p:spPr>
        <p:txBody>
          <a:bodyPr xmlns:a="http://schemas.openxmlformats.org/drawingml/2006/main" lIns="47625" tIns="38100" rIns="47625" bIns="3810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e4   |   w4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C8E3A63-9DB1-4A48-85D8-77F8F8EB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19061"/>
            <a:ext cx="2286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6B4BD1D-A19D-4116-A23A-D704B20D6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476750" y="3881438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A3AB033-2BC2-4D68-8001-866713D5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10000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A8A8A"/>
            </a:solidFill>
            <a:prstDash val="solid"/>
          </a:ln>
        </p:spPr>
        <p:txBody>
          <a:bodyPr xmlns:a="http://schemas.openxmlformats.org/drawingml/2006/main" lIns="47625" tIns="38100" rIns="47625" bIns="38100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</a:t>
            </a:r>
          </a:p>
          <a:p xmlns:a="http://schemas.openxmlformats.org/drawingml/2006/main">
            <a:pPr algn="ctr">
              <a:defRPr sz="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embeddings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D1A8FD2-DD19-45AB-978F-3C0D5E2F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919061"/>
            <a:ext cx="2286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612A1F1-5A7A-4BA7-B2A7-ECC665AD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524500" y="3881438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5F81C97-AED5-4AE4-9DB4-A847DEA1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81000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A8A8A"/>
            </a:solidFill>
            <a:prstDash val="solid"/>
          </a:ln>
        </p:spPr>
        <p:txBody>
          <a:bodyPr xmlns:a="http://schemas.openxmlformats.org/drawingml/2006/main" lIns="47625" tIns="38100" rIns="47625" bIns="38100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h_4</a:t>
            </a:r>
          </a:p>
          <a:p xmlns:a="http://schemas.openxmlformats.org/drawingml/2006/main">
            <a:pPr algn="ctr">
              <a:defRPr sz="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prob.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0DF0578-167D-4CDB-993A-0C000AE6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095750"/>
            <a:ext cx="2419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144">
            <a:solidFill>
              <a:srgbClr val="8A8A8A"/>
            </a:solidFill>
            <a:prstDash val="solid"/>
          </a:ln>
        </p:spPr>
        <p:txBody>
          <a:bodyPr xmlns:a="http://schemas.openxmlformats.org/drawingml/2006/main" lIns="47625" tIns="38100" rIns="47625" bIns="38100" anchor="ctr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pairing invariant</a:t>
            </a:r>
          </a:p>
          <a:p xmlns:a="http://schemas.openxmlformats.org/drawingml/2006/main">
            <a:pPr algn="ctr">
              <a:defRPr sz="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same generated/prediction cells across methods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DE446AD-E8ED-470E-AB70-F7164FC2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86000"/>
            <a:ext cx="2076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A8A8A"/>
            </a:solidFill>
            <a:prstDash val="solid"/>
          </a:ln>
        </p:spPr>
        <p:txBody>
          <a:bodyPr xmlns:a="http://schemas.openxmlformats.org/drawingml/2006/main" lIns="47625" tIns="38100" rIns="47625" bIns="3810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weighted geometric pool</a:t>
            </a:r>
          </a:p>
          <a:p xmlns:a="http://schemas.openxmlformats.org/drawingml/2006/main">
            <a:pPr algn="ctr">
              <a:defRPr sz="8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sum_i w_i log p_i(c)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8324D0D-D508-4F78-87B2-289B24A3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6236" y="2800350"/>
            <a:ext cx="10478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4994B5C-A357-4F47-81EA-D4206433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7948613" y="2962275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2597686-0D18-4CC6-B17B-59D56231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67050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144">
            <a:solidFill>
              <a:srgbClr val="8A8A8A"/>
            </a:solidFill>
            <a:prstDash val="solid"/>
          </a:ln>
        </p:spPr>
        <p:txBody>
          <a:bodyPr xmlns:a="http://schemas.openxmlformats.org/drawingml/2006/main" lIns="47625" tIns="38100" rIns="47625" bIns="3810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final prediction</a:t>
            </a:r>
          </a:p>
          <a:p xmlns:a="http://schemas.openxmlformats.org/drawingml/2006/main">
            <a:pPr algn="ctr">
              <a:defRPr sz="7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probability-level ensemble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710BA7C-4C1C-41E3-AA07-A9FF5004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714750"/>
            <a:ext cx="1962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8A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D1ED084-C720-4DD6-B6E7-CA1788BAF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71900"/>
            <a:ext cx="1657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thesis-facing evidence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7AEBE81-4204-4414-8B11-0FDDD4F8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62400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0.8506 BACC</a:t>
            </a:r>
          </a:p>
          <a:p xmlns:a="http://schemas.openxmlformats.org/drawingml/2006/main">
            <a:pPr algn="ctr">
              <a:defRPr sz="8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+0.0271 vs equal all4</a:t>
            </a:r>
          </a:p>
          <a:p xmlns:a="http://schemas.openxmlformats.org/drawingml/2006/main">
            <a:pPr algn="ctr">
              <a:defRPr sz="8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420/420 pairing PASS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C0B3943-9943-4984-8EF0-36B7613F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6730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6C8"/>
          </a:solidFill>
          <a:ln xmlns:a="http://schemas.openxmlformats.org/drawingml/2006/main" w="7144">
            <a:solidFill>
              <a:srgbClr val="F3BD62"/>
            </a:solidFill>
            <a:prstDash val="solid"/>
          </a:ln>
        </p:spPr>
        <p:txBody>
          <a:bodyPr xmlns:a="http://schemas.openxmlformats.org/drawingml/2006/main" lIns="47625" tIns="38100" rIns="47625" bIns="3810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Held-out target E_T</a:t>
            </a:r>
          </a:p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labels hidden during method construction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6895DEF-E7BA-477C-9EBE-7947ADB8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067300"/>
            <a:ext cx="190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6C8"/>
          </a:solidFill>
          <a:ln xmlns:a="http://schemas.openxmlformats.org/drawingml/2006/main" w="7144">
            <a:solidFill>
              <a:srgbClr val="F3BD62"/>
            </a:solidFill>
            <a:prstDash val="solid"/>
          </a:ln>
        </p:spPr>
        <p:txBody>
          <a:bodyPr xmlns:a="http://schemas.openxmlformats.org/drawingml/2006/main" lIns="47625" tIns="38100" rIns="47625" bIns="3810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Scoring boundary</a:t>
            </a:r>
          </a:p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target labels enter only here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8C18B3A-A43D-4FA2-8DCA-02FF3EBB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281136"/>
            <a:ext cx="4352925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D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147CC65-B447-405B-A8CD-8FCB8C24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096125" y="5243513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3BD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90AE117-A23D-4F7E-B863-7EDCFE12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061" y="4610100"/>
            <a:ext cx="10478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D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C70A71E-FE83-4BD6-93C1-9C7E2516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8613" y="4610100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3BD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9490C20-9F9E-4834-B41B-E4888A28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105400"/>
            <a:ext cx="4095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method is fixed before target scoring: reliability weights, generated heads, and pool are all source-only.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CF423FE-7B04-41A3-8394-3E9937A4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8293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Claim boundary: this confirms dense generated-embedding aggregation, not sparse target routing.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8DBEDE7-907F-4438-8FF8-7C0ED241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Stephanus Park, 15.05.26 - Pitch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6088801-19A6-49DA-8E70-9CA74DF1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76275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1644643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A6401E-8F7A-4926-BE9D-66F84594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8858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this supports in the 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166B10-A854-4CAF-9AF7-4B7BEFA4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33450"/>
            <a:ext cx="857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old routing claim remains; the new contribution is downstream generated-embedding preservation.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923687-4E80-4684-94D0-4C38BCCA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2800350" cy="348615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0B8FCB-070C-4C49-93ED-9CABE968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47825"/>
            <a:ext cx="2533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Supported claim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CD491D-12A5-4566-ADAF-A7E6F12A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2266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After target-local support-NELBO established routing-phase compatibility, source-only reliability-weighted dense all4 aggregation gives the clean generated-embedding downstream PASS.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B7E0DD-DE6D-4F1B-B2C3-65ABFEE9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9334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A8A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407D62-2EBD-4197-A0EC-92DE20610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7048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3C9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3C900"/>
                </a:solidFill>
                <a:latin typeface="Arial"/>
                <a:ea typeface="Arial"/>
                <a:cs typeface="Arial"/>
              </a:rPr>
              <a:t>0.8506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74C6CC-1FA5-4F09-A4A4-9A9C37F4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4330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BACC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D030B5-4480-4F13-A76F-E1AC4CD4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086100"/>
            <a:ext cx="9334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A8A8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519A8A-B97F-41A6-A2DA-E299181A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00400"/>
            <a:ext cx="7048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+0.0271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D611AA-C852-448C-BF41-62B80E59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54330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vs equal all4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72BE30-4ABD-4304-8B9F-234516A9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00500"/>
            <a:ext cx="1238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A8A8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60310E-F935-467B-92D2-55E14C39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14800"/>
            <a:ext cx="10096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+0.0416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4673D2-BD56-4FD2-B056-F58E4ABB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57700"/>
            <a:ext cx="971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vs strongest control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5BE137-75DC-42A6-84F9-A0182184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524000"/>
            <a:ext cx="2800350" cy="348615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049">
            <a:solidFill>
              <a:srgbClr val="77777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A07014-F867-44BE-B4B1-9783C5E7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1647825"/>
            <a:ext cx="2533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Not claimed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14AF2C-2C47-438C-B6A8-FB75183AF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1050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C74D22-24E4-4061-83A7-0F27BB4B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057400"/>
            <a:ext cx="194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that the previous support-NELBO routing result was wrong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2A473C-58EE-40B1-96A5-E4CE4017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76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417C1E-DEC7-43C3-B688-6B13E180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628900"/>
            <a:ext cx="1943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sparse generated-embedding expert selection as the final method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EA6C9D-1E84-4FEB-898A-2C89A845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2480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C8F149-851D-4982-BAEF-A9D1EAE6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20040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centralized latent source-mass oracle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2A69D4-ACAD-46A9-B262-FDECE48B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7623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0308E1-261A-4564-B8E4-EAC2D81A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71475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closing the full real-feature reference gap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16E127-B1A2-439E-AF9D-6FFA001D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36245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8A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39EC1E-810C-4FDB-B5A2-6670AD83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476750"/>
            <a:ext cx="2171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remaining gap to real-feature dense reference: -0.0570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0BC006-D1B2-48FD-B4A4-F496D01B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24000"/>
            <a:ext cx="2800350" cy="348615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77777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BFEF48-FD88-4065-997D-38F3CAD4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647825"/>
            <a:ext cx="2533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Supervisor discussion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C2D33B-4767-448A-968F-C08544CE3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859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6BF2D1-0D77-4BB6-A35F-6234A471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38350"/>
            <a:ext cx="1924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Present the bridge as routing estimate -&gt; downstream utility -&gt; bottleneck hunt.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B7ECF1-169F-463C-81D1-94647F50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717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4A986A-174F-42DF-A2A7-18A1480B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724150"/>
            <a:ext cx="1924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Keep support-NELBO as the routing-phase result from the previous meetup.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D0AC7B-629C-42F1-A2D1-27D67307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19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51FBED-455E-47DF-A1FD-8A6488C1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71850"/>
            <a:ext cx="1924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paired dense-all4 as the generated-embedding downstream method.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A28244A-8A46-48DA-9DC2-363865B2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862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67873A-AB43-4882-B17B-FD733D12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038600"/>
            <a:ext cx="1924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Place high-mean controlled diagnostics in limitations or appendix.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445238-EE10-466C-A59B-693FEDAE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524500"/>
            <a:ext cx="590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6C8"/>
          </a:solidFill>
          <a:ln xmlns:a="http://schemas.openxmlformats.org/drawingml/2006/main" w="7144">
            <a:solidFill>
              <a:srgbClr val="F3BD62"/>
            </a:solidFill>
            <a:prstDash val="solid"/>
          </a:ln>
        </p:spPr>
        <p:txBody>
          <a:bodyPr xmlns:a="http://schemas.openxmlformats.org/drawingml/2006/main" lIns="47625" tIns="38100" rIns="47625" bIns="3810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Meeting ask</a:t>
            </a:r>
          </a:p>
          <a:p xmlns:a="http://schemas.openxmlformats.org/drawingml/2006/main">
            <a:pPr algn="ctr">
              <a:defRPr sz="78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approve this as the thesis-facing generated-embedding synthesis and decide how much diagnostic history to show.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17CB76-514F-45B9-B785-B9233BC2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096000"/>
            <a:ext cx="434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Artifact root: virchow2_cvae_paired_dense_all4_reliability_confirmation_v1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B61D80F-1967-4FC1-9BD5-398F1B48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Stephanus Park, 15.05.26 - Pitch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8802FF5-BA38-4FAB-835C-0D44C116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76275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9560519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2026-05-31T13:58:30.8600000Z</dcterms:created>
  <dcterms:modified xsi:type="dcterms:W3CDTF">2026-05-31T13:58:30.8600000Z</dcterms:modified>
</coreProperties>
</file>