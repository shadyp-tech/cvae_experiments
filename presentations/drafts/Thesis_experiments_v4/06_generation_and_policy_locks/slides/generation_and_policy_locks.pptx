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3eae5d6ea274749" /><Relationship Type="http://schemas.openxmlformats.org/officeDocument/2006/relationships/extended-properties" Target="/docProps/app.xml" Id="Rb90288448dae4788" /><Relationship Type="http://schemas.openxmlformats.org/officeDocument/2006/relationships/officeDocument" Target="/ppt/presentation.xml" Id="R6b4aaf4bdaaf47f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c657a0a13a448a0"/>
  </p:sldMasterIdLst>
  <p:notesMasterIdLst>
    <p:notesMasterId xmlns:r="http://schemas.openxmlformats.org/officeDocument/2006/relationships" r:id="R4057458099e24cb9"/>
  </p:notesMasterIdLst>
  <p:sldIdLst>
    <p:sldId xmlns:r="http://schemas.openxmlformats.org/officeDocument/2006/relationships" id="256" r:id="R75da27bfea054720"/>
    <p:sldId xmlns:r="http://schemas.openxmlformats.org/officeDocument/2006/relationships" id="257" r:id="R287122a86cdb43b7"/>
    <p:sldId xmlns:r="http://schemas.openxmlformats.org/officeDocument/2006/relationships" id="258" r:id="R33ab94a611274fd9"/>
    <p:sldId xmlns:r="http://schemas.openxmlformats.org/officeDocument/2006/relationships" id="259" r:id="Rc400a2ff24f2415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379899b30074ac6" /><Relationship Type="http://schemas.openxmlformats.org/officeDocument/2006/relationships/slideMaster" Target="/ppt/slideMasters/slideMaster1.xml" Id="R9c657a0a13a448a0" /><Relationship Type="http://schemas.openxmlformats.org/officeDocument/2006/relationships/notesMaster" Target="/ppt/notesMasters/notesMaster1.xml" Id="R4057458099e24cb9" /><Relationship Type="http://schemas.openxmlformats.org/officeDocument/2006/relationships/presProps" Target="/ppt/presProps.xml" Id="R9d406c186db049a6" /><Relationship Type="http://schemas.openxmlformats.org/officeDocument/2006/relationships/tableStyles" Target="/ppt/tableStyles.xml" Id="Rf1f3906bcd73486d" /><Relationship Type="http://schemas.openxmlformats.org/officeDocument/2006/relationships/slide" Target="/ppt/slides/slide1.xml" Id="R75da27bfea054720" /><Relationship Type="http://schemas.openxmlformats.org/officeDocument/2006/relationships/slide" Target="/ppt/slides/slide2.xml" Id="R287122a86cdb43b7" /><Relationship Type="http://schemas.openxmlformats.org/officeDocument/2006/relationships/slide" Target="/ppt/slides/slide3.xml" Id="R33ab94a611274fd9" /><Relationship Type="http://schemas.openxmlformats.org/officeDocument/2006/relationships/slide" Target="/ppt/slides/slide4.xml" Id="Rc400a2ff24f2415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3d5b5b216d74ac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980c65b13ef4a1a" /><Relationship Type="http://schemas.openxmlformats.org/officeDocument/2006/relationships/notesMaster" Target="/ppt/notesMasters/notesMaster1.xml" Id="R95ec0e65141741b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8177d24145a4d1f" /><Relationship Type="http://schemas.openxmlformats.org/officeDocument/2006/relationships/notesMaster" Target="/ppt/notesMasters/notesMaster1.xml" Id="R40447f08f292401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4215583fd404708" /><Relationship Type="http://schemas.openxmlformats.org/officeDocument/2006/relationships/notesMaster" Target="/ppt/notesMasters/notesMaster1.xml" Id="Rd9f69893b8ca4a9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a33bb21aedc4045" /><Relationship Type="http://schemas.openxmlformats.org/officeDocument/2006/relationships/notesMaster" Target="/ppt/notesMasters/notesMaster1.xml" Id="R304ccce53cb44c4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docs/context/current_experimental_state.md</a:t>
            </a:r>
          </a:p>
          <a:p xmlns:a="http://schemas.openxmlformats.org/drawingml/2006/main">
            <a:r>
              <a:t>- docs/wiki/03-experiments/midogpp-uniform-b-v2-source-inner-utility-regret-policy-v1.md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docs/context/current_experimental_state.md</a:t>
            </a:r>
          </a:p>
          <a:p xmlns:a="http://schemas.openxmlformats.org/drawingml/2006/main">
            <a:r>
              <a:t>- docs/wiki/03-experiments/midogpp-uniform-b-v2-source-inner-utility-regret-policy-v1.md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docs/context/current_experimental_state.md</a:t>
            </a:r>
          </a:p>
          <a:p xmlns:a="http://schemas.openxmlformats.org/drawingml/2006/main">
            <a:r>
              <a:t>- docs/wiki/03-experiments/midogpp-uniform-b-v2-source-inner-utility-regret-policy-v1.md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docs/context/current_experimental_state.md</a:t>
            </a:r>
          </a:p>
          <a:p xmlns:a="http://schemas.openxmlformats.org/drawingml/2006/main">
            <a:r>
              <a:t>- docs/wiki/03-experiments/midogpp-uniform-b-v2-source-inner-utility-regret-policy-v1.md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e5f0cf130c405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c4ff103e6744f6b" /><Relationship Type="http://schemas.openxmlformats.org/officeDocument/2006/relationships/slideLayout" Target="/ppt/slideLayouts/slideLayout1.xml" Id="Rff0df40cb97e4fd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f0df40cb97e4fd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cac9b78de14846" /><Relationship Type="http://schemas.openxmlformats.org/officeDocument/2006/relationships/notesSlide" Target="/ppt/notesSlides/notesSlide1.xml" Id="R147fbd05f6cc4d2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8327f1138f4f56" /><Relationship Type="http://schemas.openxmlformats.org/officeDocument/2006/relationships/notesSlide" Target="/ppt/notesSlides/notesSlide2.xml" Id="R20864efa3e7740f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639b5f11e249f5" /><Relationship Type="http://schemas.openxmlformats.org/officeDocument/2006/relationships/chart" Target="/ppt/slides/charts/chart1.xml" Id="R53ec6ab750a24bb6" /><Relationship Type="http://schemas.openxmlformats.org/officeDocument/2006/relationships/notesSlide" Target="/ppt/notesSlides/notesSlide3.xml" Id="Rfc57ccf5d0ea422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bdc85b62bc407f" /><Relationship Type="http://schemas.openxmlformats.org/officeDocument/2006/relationships/notesSlide" Target="/ppt/notesSlides/notesSlide4.xml" Id="R24d2815718434c34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Best-source win probability</c:v>
          </c:tx>
          <c:spPr>
            <a:solidFill xmlns:a="http://schemas.openxmlformats.org/drawingml/2006/main">
              <a:srgbClr val="D68A00"/>
            </a:solidFill>
          </c:spPr>
          <c:cat>
            <c:strLit>
              <c:ptCount val="3"/>
              <c:pt idx="0">
                <c:v>Minimum fold</c:v>
              </c:pt>
              <c:pt idx="1">
                <c:v>Maximum fold</c:v>
              </c:pt>
              <c:pt idx="2">
                <c:v>Required</c:v>
              </c:pt>
            </c:strLit>
          </c:cat>
          <c:val>
            <c:numLit>
              <c:formatCode>0.000</c:formatCode>
              <c:ptCount val="3"/>
              <c:pt idx="0">
                <c:v>0.392</c:v>
              </c:pt>
              <c:pt idx="1">
                <c:v>0.786</c:v>
              </c:pt>
              <c:pt idx="2">
                <c:v>0.8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00000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0.85"/>
          <c:min val="0.3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75">
                    <a:solidFill>
                      <a:srgbClr val="5B6472"/>
                    </a:solidFill>
                  </a:rPr>
                  <a:t>Probability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5B6472"/>
                  </a:solidFill>
                </a:defRPr>
              </a:pPr>
            </a:p>
          </c:txPr>
        </c:title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</a:p>
        </c:txPr>
        <c:crossAx val="48650112"/>
        <c:crossBetween val="between"/>
        <c:majorUnit val="0.1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A355392D-35A1-48B8-8EB2-839DEFFE2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rPr>
              <a:t>STAGES 40 / 60 — GENERATION AND POLICY LOCKS</a:t>
            </a:r>
          </a:p>
        </p:txBody>
      </p:sp>
      <p:sp>
        <p:nvSpPr>
          <p:cNvPr id="2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D31570BD-8AF5-42C3-B8CF-CB92A1E52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952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8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4C7652E3-5C1F-4F39-9954-9C39BBC4B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28700"/>
            <a:ext cx="1028700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learned utility policy abstains before target evaluation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CC267042-B08F-43B1-8E47-85CB944BE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914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A reproducible three-arm comparison frozen under matched budgets</a:t>
            </a:r>
          </a:p>
        </p:txBody>
      </p:sp>
      <p:sp>
        <p:nvSpPr>
          <p:cNvPr id="5" name="cover-status-panel">
            <a:extLst xmlns:a="http://schemas.openxmlformats.org/drawingml/2006/main">
              <a:ext uri="{FF2B5EF4-FFF2-40B4-BE49-F238E27FC236}">
                <a16:creationId xmlns:a16="http://schemas.microsoft.com/office/drawing/2014/main" id="{B7BDE415-CBBF-4F2E-9214-F41A7B1EE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14900"/>
            <a:ext cx="1066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ver-status">
            <a:extLst xmlns:a="http://schemas.openxmlformats.org/drawingml/2006/main">
              <a:ext uri="{FF2B5EF4-FFF2-40B4-BE49-F238E27FC236}">
                <a16:creationId xmlns:a16="http://schemas.microsoft.com/office/drawing/2014/main" id="{BE8277F9-69B3-431F-9CA3-B64F7117A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24450"/>
            <a:ext cx="1019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rPr>
              <a:t>All readiness validators PASS • no downstream metric computed</a:t>
            </a:r>
          </a:p>
        </p:txBody>
      </p:sp>
      <p:sp>
        <p:nvSpPr>
          <p:cNvPr id="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D0EEFC30-6E2E-4A23-9E56-D2058595C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Source: GenerationLock and Stage-60 policy locks</a:t>
            </a:r>
          </a:p>
        </p:txBody>
      </p:sp>
    </p:spTree>
    <p:extLst>
      <p:ext uri="{BB962C8B-B14F-4D97-AF65-F5344CB8AC3E}">
        <p14:creationId xmlns:p14="http://schemas.microsoft.com/office/powerpoint/2010/main" val="6687534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98F1AC02-54FE-41D8-A8FD-B000B876E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Generation and routing are locked before labels open</a:t>
            </a:r>
          </a:p>
        </p:txBody>
      </p:sp>
      <p:sp>
        <p:nvSpPr>
          <p:cNvPr id="2" name="slide-2-number">
            <a:extLst xmlns:a="http://schemas.openxmlformats.org/drawingml/2006/main">
              <a:ext uri="{FF2B5EF4-FFF2-40B4-BE49-F238E27FC236}">
                <a16:creationId xmlns:a16="http://schemas.microsoft.com/office/drawing/2014/main" id="{A61644B9-0CA0-40D0-BCBD-18F4A7C5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095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3" name="rule-112">
            <a:extLst xmlns:a="http://schemas.openxmlformats.org/drawingml/2006/main">
              <a:ext uri="{FF2B5EF4-FFF2-40B4-BE49-F238E27FC236}">
                <a16:creationId xmlns:a16="http://schemas.microsoft.com/office/drawing/2014/main" id="{3C0FBFE6-B520-4781-AF72-296AA0191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question-label">
            <a:extLst xmlns:a="http://schemas.openxmlformats.org/drawingml/2006/main">
              <a:ext uri="{FF2B5EF4-FFF2-40B4-BE49-F238E27FC236}">
                <a16:creationId xmlns:a16="http://schemas.microsoft.com/office/drawing/2014/main" id="{18F2DF40-5245-4AA2-90A8-BBBC04916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rPr>
              <a:t>RESEARCH QUESTION</a:t>
            </a:r>
          </a:p>
        </p:txBody>
      </p:sp>
      <p:sp>
        <p:nvSpPr>
          <p:cNvPr id="5" name="question">
            <a:extLst xmlns:a="http://schemas.openxmlformats.org/drawingml/2006/main">
              <a:ext uri="{FF2B5EF4-FFF2-40B4-BE49-F238E27FC236}">
                <a16:creationId xmlns:a16="http://schemas.microsoft.com/office/drawing/2014/main" id="{635C5959-CE30-4A72-B221-45FCE325A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46672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 equal union, metadata routing, and learned utility routing be compared without post-hoc target adaptation?</a:t>
            </a:r>
          </a:p>
        </p:txBody>
      </p:sp>
      <p:sp>
        <p:nvSpPr>
          <p:cNvPr id="6" name="protocol-note">
            <a:extLst xmlns:a="http://schemas.openxmlformats.org/drawingml/2006/main">
              <a:ext uri="{FF2B5EF4-FFF2-40B4-BE49-F238E27FC236}">
                <a16:creationId xmlns:a16="http://schemas.microsoft.com/office/drawing/2014/main" id="{D9D199EA-4E3F-4D29-9622-6C8AFC516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10150"/>
            <a:ext cx="4667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Same expert pool, total budget, RNG, shuffles, classifier settings, and target rows.</a:t>
            </a:r>
          </a:p>
        </p:txBody>
      </p:sp>
      <p:sp>
        <p:nvSpPr>
          <p:cNvPr id="7" name="column-rule">
            <a:extLst xmlns:a="http://schemas.openxmlformats.org/drawingml/2006/main">
              <a:ext uri="{FF2B5EF4-FFF2-40B4-BE49-F238E27FC236}">
                <a16:creationId xmlns:a16="http://schemas.microsoft.com/office/drawing/2014/main" id="{0A7BD699-961E-403E-8196-4E3B8970A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390650"/>
            <a:ext cx="14288" cy="481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ep-num-0">
            <a:extLst xmlns:a="http://schemas.openxmlformats.org/drawingml/2006/main">
              <a:ext uri="{FF2B5EF4-FFF2-40B4-BE49-F238E27FC236}">
                <a16:creationId xmlns:a16="http://schemas.microsoft.com/office/drawing/2014/main" id="{6CED8FCC-A950-4317-8E9F-9E0F020D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4287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step-label-0">
            <a:extLst xmlns:a="http://schemas.openxmlformats.org/drawingml/2006/main">
              <a:ext uri="{FF2B5EF4-FFF2-40B4-BE49-F238E27FC236}">
                <a16:creationId xmlns:a16="http://schemas.microsoft.com/office/drawing/2014/main" id="{2011DC28-AF78-4536-A321-04895ACD3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4097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GenerationLock</a:t>
            </a:r>
          </a:p>
        </p:txBody>
      </p:sp>
      <p:sp>
        <p:nvSpPr>
          <p:cNvPr id="10" name="step-text-0">
            <a:extLst xmlns:a="http://schemas.openxmlformats.org/drawingml/2006/main">
              <a:ext uri="{FF2B5EF4-FFF2-40B4-BE49-F238E27FC236}">
                <a16:creationId xmlns:a16="http://schemas.microsoft.com/office/drawing/2014/main" id="{AC053126-A5D2-4656-ACBF-788A67D78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79070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81 source streams and 162 health records freeze the physical surface.</a:t>
            </a:r>
          </a:p>
        </p:txBody>
      </p:sp>
      <p:sp>
        <p:nvSpPr>
          <p:cNvPr id="11" name="step-rule-0">
            <a:extLst xmlns:a="http://schemas.openxmlformats.org/drawingml/2006/main">
              <a:ext uri="{FF2B5EF4-FFF2-40B4-BE49-F238E27FC236}">
                <a16:creationId xmlns:a16="http://schemas.microsoft.com/office/drawing/2014/main" id="{E8433AF4-1F98-4D50-AE46-CF91E565C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86025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tep-num-1">
            <a:extLst xmlns:a="http://schemas.openxmlformats.org/drawingml/2006/main">
              <a:ext uri="{FF2B5EF4-FFF2-40B4-BE49-F238E27FC236}">
                <a16:creationId xmlns:a16="http://schemas.microsoft.com/office/drawing/2014/main" id="{DD4F9954-82A3-4E2F-8321-513D6469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6098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3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BC2296C6-9F8B-4250-804E-D4D1D6E4E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908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Equal-union control</a:t>
            </a:r>
          </a:p>
        </p:txBody>
      </p:sp>
      <p:sp>
        <p:nvSpPr>
          <p:cNvPr id="14" name="step-text-1">
            <a:extLst xmlns:a="http://schemas.openxmlformats.org/drawingml/2006/main">
              <a:ext uri="{FF2B5EF4-FFF2-40B4-BE49-F238E27FC236}">
                <a16:creationId xmlns:a16="http://schemas.microsoft.com/office/drawing/2014/main" id="{6D2AD355-3F04-4BA0-B44A-43ECB77FC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97180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All eight non-target sources receive equal per-class budget.</a:t>
            </a:r>
          </a:p>
        </p:txBody>
      </p:sp>
      <p:sp>
        <p:nvSpPr>
          <p:cNvPr id="15" name="step-rule-1">
            <a:extLst xmlns:a="http://schemas.openxmlformats.org/drawingml/2006/main">
              <a:ext uri="{FF2B5EF4-FFF2-40B4-BE49-F238E27FC236}">
                <a16:creationId xmlns:a16="http://schemas.microsoft.com/office/drawing/2014/main" id="{86A15F4E-9B70-4E2A-9AEE-24E73AF98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667125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tep-num-2">
            <a:extLst xmlns:a="http://schemas.openxmlformats.org/drawingml/2006/main">
              <a:ext uri="{FF2B5EF4-FFF2-40B4-BE49-F238E27FC236}">
                <a16:creationId xmlns:a16="http://schemas.microsoft.com/office/drawing/2014/main" id="{7222DBBE-2376-438E-9B3B-973ABABC6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7909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7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F4EB10BE-E78D-454B-A792-F730DB239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7719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Metadata max-tie</a:t>
            </a:r>
          </a:p>
        </p:txBody>
      </p:sp>
      <p:sp>
        <p:nvSpPr>
          <p:cNvPr id="18" name="step-text-2">
            <a:extLst xmlns:a="http://schemas.openxmlformats.org/drawingml/2006/main">
              <a:ext uri="{FF2B5EF4-FFF2-40B4-BE49-F238E27FC236}">
                <a16:creationId xmlns:a16="http://schemas.microsoft.com/office/drawing/2014/main" id="{60F83EFE-ED02-4AC6-822B-8ACE4819D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5290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Exact-match scores retain every maximum tie; no labels or utility enter.</a:t>
            </a:r>
          </a:p>
        </p:txBody>
      </p:sp>
      <p:sp>
        <p:nvSpPr>
          <p:cNvPr id="19" name="step-rule-2">
            <a:extLst xmlns:a="http://schemas.openxmlformats.org/drawingml/2006/main">
              <a:ext uri="{FF2B5EF4-FFF2-40B4-BE49-F238E27FC236}">
                <a16:creationId xmlns:a16="http://schemas.microsoft.com/office/drawing/2014/main" id="{03796D5C-B915-4429-8F0E-55D61A274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848225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tep-num-3">
            <a:extLst xmlns:a="http://schemas.openxmlformats.org/drawingml/2006/main">
              <a:ext uri="{FF2B5EF4-FFF2-40B4-BE49-F238E27FC236}">
                <a16:creationId xmlns:a16="http://schemas.microsoft.com/office/drawing/2014/main" id="{2ACBE526-ECDB-4200-82DD-A56CCCE33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9720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1" name="step-label-3">
            <a:extLst xmlns:a="http://schemas.openxmlformats.org/drawingml/2006/main">
              <a:ext uri="{FF2B5EF4-FFF2-40B4-BE49-F238E27FC236}">
                <a16:creationId xmlns:a16="http://schemas.microsoft.com/office/drawing/2014/main" id="{80E8B489-9BE2-4C56-96AC-874694AC4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9530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Utility/regret gate</a:t>
            </a:r>
          </a:p>
        </p:txBody>
      </p:sp>
      <p:sp>
        <p:nvSpPr>
          <p:cNvPr id="22" name="step-text-3">
            <a:extLst xmlns:a="http://schemas.openxmlformats.org/drawingml/2006/main">
              <a:ext uri="{FF2B5EF4-FFF2-40B4-BE49-F238E27FC236}">
                <a16:creationId xmlns:a16="http://schemas.microsoft.com/office/drawing/2014/main" id="{8F64E9AB-9768-4603-97B7-99F127815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33400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Source-inner uncertainty must authorize a source or return exact equal union.</a:t>
            </a:r>
          </a:p>
        </p:txBody>
      </p:sp>
      <p:sp>
        <p:nvSpPr>
          <p:cNvPr id="23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25F3A451-1B54-42D7-A539-AD5449446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Source: GenerationLock and Stage-60 policy locks</a:t>
            </a:r>
          </a:p>
        </p:txBody>
      </p:sp>
    </p:spTree>
    <p:extLst>
      <p:ext uri="{BB962C8B-B14F-4D97-AF65-F5344CB8AC3E}">
        <p14:creationId xmlns:p14="http://schemas.microsoft.com/office/powerpoint/2010/main" val="11336697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5CA2967E-279D-446B-B9E1-1A052695F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 fold reaches the 0.80 win-probability threshold</a:t>
            </a:r>
          </a:p>
        </p:txBody>
      </p:sp>
      <p:sp>
        <p:nvSpPr>
          <p:cNvPr id="2" name="slide-3-number">
            <a:extLst xmlns:a="http://schemas.openxmlformats.org/drawingml/2006/main">
              <a:ext uri="{FF2B5EF4-FFF2-40B4-BE49-F238E27FC236}">
                <a16:creationId xmlns:a16="http://schemas.microsoft.com/office/drawing/2014/main" id="{4D10D9ED-FFC5-4DCB-AE64-7A117C8E8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095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" name="rule-112">
            <a:extLst xmlns:a="http://schemas.openxmlformats.org/drawingml/2006/main">
              <a:ext uri="{FF2B5EF4-FFF2-40B4-BE49-F238E27FC236}">
                <a16:creationId xmlns:a16="http://schemas.microsoft.com/office/drawing/2014/main" id="{459F6F37-01C3-48AC-A466-6743D385F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9" name="primary-result-chart"/>
          <p:cNvGraphicFramePr/>
          <p:nvPr/>
        </p:nvGraphicFramePr>
        <p:xfrm>
          <a:off xmlns:a="http://schemas.openxmlformats.org/drawingml/2006/main" x="400050" y="1428750"/>
          <a:ext xmlns:a="http://schemas.openxmlformats.org/drawingml/2006/main" cx="7334250" cy="4667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3ec6ab750a24bb6"/>
          </a:graphicData>
        </a:graphic>
      </p:graphicFrame>
      <p:sp>
        <p:nvSpPr>
          <p:cNvPr id="5" name="chart-caption">
            <a:extLst xmlns:a="http://schemas.openxmlformats.org/drawingml/2006/main">
              <a:ext uri="{FF2B5EF4-FFF2-40B4-BE49-F238E27FC236}">
                <a16:creationId xmlns:a16="http://schemas.microsoft.com/office/drawing/2014/main" id="{2A57A452-5CF8-4CB6-8B59-DB8F1E937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15050"/>
            <a:ext cx="714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All paired-regret lower bounds are also negative.</a:t>
            </a:r>
          </a:p>
        </p:txBody>
      </p:sp>
      <p:sp>
        <p:nvSpPr>
          <p:cNvPr id="6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0ED225DD-F0A4-4905-8B1F-BFC153D3C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4763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rPr>
              <a:t>WHAT CHANGED</a:t>
            </a:r>
          </a:p>
        </p:txBody>
      </p:sp>
      <p:sp>
        <p:nvSpPr>
          <p:cNvPr id="7" name="metric-value-0">
            <a:extLst xmlns:a="http://schemas.openxmlformats.org/drawingml/2006/main">
              <a:ext uri="{FF2B5EF4-FFF2-40B4-BE49-F238E27FC236}">
                <a16:creationId xmlns:a16="http://schemas.microsoft.com/office/drawing/2014/main" id="{6FB4933C-16C5-486C-B80B-649562F51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812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rPr>
              <a:t>0 / 9</a:t>
            </a:r>
          </a:p>
        </p:txBody>
      </p:sp>
      <p:sp>
        <p:nvSpPr>
          <p:cNvPr id="8" name="metric-text-0">
            <a:extLst xmlns:a="http://schemas.openxmlformats.org/drawingml/2006/main">
              <a:ext uri="{FF2B5EF4-FFF2-40B4-BE49-F238E27FC236}">
                <a16:creationId xmlns:a16="http://schemas.microsoft.com/office/drawing/2014/main" id="{2EB71D15-6989-4688-9124-2F3A8EA40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955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Outer folds authorized for sparse routing</a:t>
            </a:r>
          </a:p>
        </p:txBody>
      </p:sp>
      <p:sp>
        <p:nvSpPr>
          <p:cNvPr id="9" name="metric-rule-1">
            <a:extLst xmlns:a="http://schemas.openxmlformats.org/drawingml/2006/main">
              <a:ext uri="{FF2B5EF4-FFF2-40B4-BE49-F238E27FC236}">
                <a16:creationId xmlns:a16="http://schemas.microsoft.com/office/drawing/2014/main" id="{B1AFEA36-AD74-45B3-8CEE-1840AFC50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623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etric-value-1">
            <a:extLst xmlns:a="http://schemas.openxmlformats.org/drawingml/2006/main">
              <a:ext uri="{FF2B5EF4-FFF2-40B4-BE49-F238E27FC236}">
                <a16:creationId xmlns:a16="http://schemas.microsoft.com/office/drawing/2014/main" id="{7E4EC356-9A11-4FC6-8565-9799142D9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3375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rPr>
              <a:t>4,536</a:t>
            </a:r>
          </a:p>
        </p:txBody>
      </p:sp>
      <p:sp>
        <p:nvSpPr>
          <p:cNvPr id="11" name="metric-text-1">
            <a:extLst xmlns:a="http://schemas.openxmlformats.org/drawingml/2006/main">
              <a:ext uri="{FF2B5EF4-FFF2-40B4-BE49-F238E27FC236}">
                <a16:creationId xmlns:a16="http://schemas.microsoft.com/office/drawing/2014/main" id="{56F370FE-6458-46FB-AA5A-D8C435C50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481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Regret cells evaluated under strict exclusions</a:t>
            </a:r>
          </a:p>
        </p:txBody>
      </p:sp>
      <p:sp>
        <p:nvSpPr>
          <p:cNvPr id="12" name="metric-rule-2">
            <a:extLst xmlns:a="http://schemas.openxmlformats.org/drawingml/2006/main">
              <a:ext uri="{FF2B5EF4-FFF2-40B4-BE49-F238E27FC236}">
                <a16:creationId xmlns:a16="http://schemas.microsoft.com/office/drawing/2014/main" id="{E5784D41-F196-4FA5-8B47-B518B7A82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5148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metric-value-2">
            <a:extLst xmlns:a="http://schemas.openxmlformats.org/drawingml/2006/main">
              <a:ext uri="{FF2B5EF4-FFF2-40B4-BE49-F238E27FC236}">
                <a16:creationId xmlns:a16="http://schemas.microsoft.com/office/drawing/2014/main" id="{1C329EF7-81F7-4250-B472-5293CC160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6863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rPr>
              <a:t>Exact</a:t>
            </a:r>
          </a:p>
        </p:txBody>
      </p:sp>
      <p:sp>
        <p:nvSpPr>
          <p:cNvPr id="14" name="metric-text-2">
            <a:extLst xmlns:a="http://schemas.openxmlformats.org/drawingml/2006/main">
              <a:ext uri="{FF2B5EF4-FFF2-40B4-BE49-F238E27FC236}">
                <a16:creationId xmlns:a16="http://schemas.microsoft.com/office/drawing/2014/main" id="{18DFAD26-E40C-4F8B-9CA6-BD9A2D2EC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2006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Equal-union fallback reused without re-estimation</a:t>
            </a:r>
          </a:p>
        </p:txBody>
      </p:sp>
      <p:sp>
        <p:nvSpPr>
          <p:cNvPr id="1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2AE8BA87-97A8-4C78-ADC3-82194A613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Source: GenerationLock and Stage-60 policy locks</a:t>
            </a:r>
          </a:p>
        </p:txBody>
      </p:sp>
    </p:spTree>
    <p:extLst>
      <p:ext uri="{BB962C8B-B14F-4D97-AF65-F5344CB8AC3E}">
        <p14:creationId xmlns:p14="http://schemas.microsoft.com/office/powerpoint/2010/main" val="19180687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FB5372BE-D637-474A-A315-C7CD6E744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Abstention is a valid policy result, not a failed run</a:t>
            </a:r>
          </a:p>
        </p:txBody>
      </p:sp>
      <p:sp>
        <p:nvSpPr>
          <p:cNvPr id="2" name="slide-4-number">
            <a:extLst xmlns:a="http://schemas.openxmlformats.org/drawingml/2006/main">
              <a:ext uri="{FF2B5EF4-FFF2-40B4-BE49-F238E27FC236}">
                <a16:creationId xmlns:a16="http://schemas.microsoft.com/office/drawing/2014/main" id="{AD270E99-7047-464C-A1AF-25725162A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095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" name="rule-112">
            <a:extLst xmlns:a="http://schemas.openxmlformats.org/drawingml/2006/main">
              <a:ext uri="{FF2B5EF4-FFF2-40B4-BE49-F238E27FC236}">
                <a16:creationId xmlns:a16="http://schemas.microsoft.com/office/drawing/2014/main" id="{D39E05DB-515D-4DF9-A137-DA04DEB1A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upported-label">
            <a:extLst xmlns:a="http://schemas.openxmlformats.org/drawingml/2006/main">
              <a:ext uri="{FF2B5EF4-FFF2-40B4-BE49-F238E27FC236}">
                <a16:creationId xmlns:a16="http://schemas.microsoft.com/office/drawing/2014/main" id="{A704E296-BE6A-4D72-BFA4-71DFA99F8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rPr>
              <a:t>SUPPORTED INTERPRETATION</a:t>
            </a:r>
          </a:p>
        </p:txBody>
      </p:sp>
      <p:sp>
        <p:nvSpPr>
          <p:cNvPr id="5" name="supported-text">
            <a:extLst xmlns:a="http://schemas.openxmlformats.org/drawingml/2006/main">
              <a:ext uri="{FF2B5EF4-FFF2-40B4-BE49-F238E27FC236}">
                <a16:creationId xmlns:a16="http://schemas.microsoft.com/office/drawing/2014/main" id="{F78B4DC6-0658-4BDD-91D7-3BC428454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504825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permitted source-inner evidence is too uncertain to justify sparse routing, so the policy preserves the strong dense fallback.</a:t>
            </a:r>
          </a:p>
        </p:txBody>
      </p:sp>
      <p:sp>
        <p:nvSpPr>
          <p:cNvPr id="6" name="objective-text">
            <a:extLst xmlns:a="http://schemas.openxmlformats.org/drawingml/2006/main">
              <a:ext uri="{FF2B5EF4-FFF2-40B4-BE49-F238E27FC236}">
                <a16:creationId xmlns:a16="http://schemas.microsoft.com/office/drawing/2014/main" id="{9AE0695F-107D-4D31-9E23-77B96584E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504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Objective 3 implemented; objective 4 comparison contract complete.</a:t>
            </a:r>
          </a:p>
        </p:txBody>
      </p:sp>
      <p:sp>
        <p:nvSpPr>
          <p:cNvPr id="7" name="conclusion-rule">
            <a:extLst xmlns:a="http://schemas.openxmlformats.org/drawingml/2006/main">
              <a:ext uri="{FF2B5EF4-FFF2-40B4-BE49-F238E27FC236}">
                <a16:creationId xmlns:a16="http://schemas.microsoft.com/office/drawing/2014/main" id="{BE8DD422-9C16-48F0-B824-6831F7377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428750"/>
            <a:ext cx="14288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oundary-label">
            <a:extLst xmlns:a="http://schemas.openxmlformats.org/drawingml/2006/main">
              <a:ext uri="{FF2B5EF4-FFF2-40B4-BE49-F238E27FC236}">
                <a16:creationId xmlns:a16="http://schemas.microsoft.com/office/drawing/2014/main" id="{D6E0F2BF-39AE-4BB7-A3F7-8FE1D361D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50495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43D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C43D4B"/>
                </a:solidFill>
                <a:latin typeface="Helvetica Neue"/>
                <a:ea typeface="Helvetica Neue"/>
                <a:cs typeface="Helvetica Neue"/>
              </a:rPr>
              <a:t>CLAIM BOUNDARY</a:t>
            </a:r>
          </a:p>
        </p:txBody>
      </p:sp>
      <p:sp>
        <p:nvSpPr>
          <p:cNvPr id="9" name="boundary-text">
            <a:extLst xmlns:a="http://schemas.openxmlformats.org/drawingml/2006/main">
              <a:ext uri="{FF2B5EF4-FFF2-40B4-BE49-F238E27FC236}">
                <a16:creationId xmlns:a16="http://schemas.microsoft.com/office/drawing/2014/main" id="{84F0F36C-0BAC-4EB4-8517-8089A3836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52625"/>
            <a:ext cx="5143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Stages 40/60 establish readiness and frozen decisions only. They provide no target BACC or routing advantage.</a:t>
            </a:r>
          </a:p>
        </p:txBody>
      </p:sp>
      <p:sp>
        <p:nvSpPr>
          <p:cNvPr id="10" name="next-panel">
            <a:extLst xmlns:a="http://schemas.openxmlformats.org/drawingml/2006/main">
              <a:ext uri="{FF2B5EF4-FFF2-40B4-BE49-F238E27FC236}">
                <a16:creationId xmlns:a16="http://schemas.microsoft.com/office/drawing/2014/main" id="{5C89A0BE-1E12-40D2-B0DE-524F00953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362450"/>
            <a:ext cx="51435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next-label">
            <a:extLst xmlns:a="http://schemas.openxmlformats.org/drawingml/2006/main">
              <a:ext uri="{FF2B5EF4-FFF2-40B4-BE49-F238E27FC236}">
                <a16:creationId xmlns:a16="http://schemas.microsoft.com/office/drawing/2014/main" id="{E81273C7-D806-4B82-B570-22559196A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9105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rPr>
              <a:t>NEXT DECISION</a:t>
            </a:r>
          </a:p>
        </p:txBody>
      </p:sp>
      <p:sp>
        <p:nvSpPr>
          <p:cNvPr id="12" name="next-text">
            <a:extLst xmlns:a="http://schemas.openxmlformats.org/drawingml/2006/main">
              <a:ext uri="{FF2B5EF4-FFF2-40B4-BE49-F238E27FC236}">
                <a16:creationId xmlns:a16="http://schemas.microsoft.com/office/drawing/2014/main" id="{668B12E4-A0E3-49A3-B193-9BD9C277C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72050"/>
            <a:ext cx="4667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Score all three frozen arms in one separately authorized Stage-70 comparison.</a:t>
            </a:r>
          </a:p>
        </p:txBody>
      </p:sp>
      <p:sp>
        <p:nvSpPr>
          <p:cNvPr id="13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89E2663E-FF56-4D8D-ADE2-C417D692F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Source: GenerationLock and Stage-60 policy locks</a:t>
            </a:r>
          </a:p>
        </p:txBody>
      </p:sp>
    </p:spTree>
    <p:extLst>
      <p:ext uri="{BB962C8B-B14F-4D97-AF65-F5344CB8AC3E}">
        <p14:creationId xmlns:p14="http://schemas.microsoft.com/office/powerpoint/2010/main" val="5097503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2026-08-22T16:04:54.6700000Z</dcterms:created>
  <dcterms:modified xsi:type="dcterms:W3CDTF">2026-08-22T16:04:54.6700000Z</dcterms:modified>
</coreProperties>
</file>