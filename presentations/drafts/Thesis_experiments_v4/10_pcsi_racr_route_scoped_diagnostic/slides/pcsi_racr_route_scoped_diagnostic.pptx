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7c8168591544f5" /><Relationship Type="http://schemas.openxmlformats.org/officeDocument/2006/relationships/extended-properties" Target="/docProps/app.xml" Id="R3f4e6f79be2c4025" /><Relationship Type="http://schemas.openxmlformats.org/officeDocument/2006/relationships/officeDocument" Target="/ppt/presentation.xml" Id="R4be394165a8549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119bbfeb894e20"/>
  </p:sldMasterIdLst>
  <p:notesMasterIdLst>
    <p:notesMasterId xmlns:r="http://schemas.openxmlformats.org/officeDocument/2006/relationships" r:id="R1f86c76799b345bf"/>
  </p:notesMasterIdLst>
  <p:sldIdLst>
    <p:sldId xmlns:r="http://schemas.openxmlformats.org/officeDocument/2006/relationships" id="256" r:id="R6f89a45fbf184015"/>
    <p:sldId xmlns:r="http://schemas.openxmlformats.org/officeDocument/2006/relationships" id="257" r:id="R9d7a0400ba064621"/>
    <p:sldId xmlns:r="http://schemas.openxmlformats.org/officeDocument/2006/relationships" id="258" r:id="R4c53273bd7724b19"/>
    <p:sldId xmlns:r="http://schemas.openxmlformats.org/officeDocument/2006/relationships" id="259" r:id="R0146fda163bb44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a533e1f3f94664" /><Relationship Type="http://schemas.openxmlformats.org/officeDocument/2006/relationships/slideMaster" Target="/ppt/slideMasters/slideMaster1.xml" Id="R51119bbfeb894e20" /><Relationship Type="http://schemas.openxmlformats.org/officeDocument/2006/relationships/notesMaster" Target="/ppt/notesMasters/notesMaster1.xml" Id="R1f86c76799b345bf" /><Relationship Type="http://schemas.openxmlformats.org/officeDocument/2006/relationships/presProps" Target="/ppt/presProps.xml" Id="R13c180d5fe9b4d29" /><Relationship Type="http://schemas.openxmlformats.org/officeDocument/2006/relationships/tableStyles" Target="/ppt/tableStyles.xml" Id="R6aa0e18972384de9" /><Relationship Type="http://schemas.openxmlformats.org/officeDocument/2006/relationships/slide" Target="/ppt/slides/slide1.xml" Id="R6f89a45fbf184015" /><Relationship Type="http://schemas.openxmlformats.org/officeDocument/2006/relationships/slide" Target="/ppt/slides/slide2.xml" Id="R9d7a0400ba064621" /><Relationship Type="http://schemas.openxmlformats.org/officeDocument/2006/relationships/slide" Target="/ppt/slides/slide3.xml" Id="R4c53273bd7724b19" /><Relationship Type="http://schemas.openxmlformats.org/officeDocument/2006/relationships/slide" Target="/ppt/slides/slide4.xml" Id="R0146fda163bb44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31f299ba4443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b16d83e54d450b" /><Relationship Type="http://schemas.openxmlformats.org/officeDocument/2006/relationships/notesMaster" Target="/ppt/notesMasters/notesMaster1.xml" Id="R722cd50b169e48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dd7a80ba51411f" /><Relationship Type="http://schemas.openxmlformats.org/officeDocument/2006/relationships/notesMaster" Target="/ppt/notesMasters/notesMaster1.xml" Id="R41ae31c8cac142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d2a1914c9b4e26" /><Relationship Type="http://schemas.openxmlformats.org/officeDocument/2006/relationships/notesMaster" Target="/ppt/notesMasters/notesMaster1.xml" Id="R3c5023dedf2c42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5bdc7e028d4a9d" /><Relationship Type="http://schemas.openxmlformats.org/officeDocument/2006/relationships/notesMaster" Target="/ppt/notesMasters/notesMaster1.xml" Id="R2803a47df5a143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/home/stud/spark/cvae_experiments/artifacts/midogpp/90_oracles_and_diagnostics/uniform_b_v2_consumed_test_fixed_bank_p_anchored_route_scoped_boundary_projected_pcsi_policy_regret_router/v2/reports/diagnostic_summary.json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/home/stud/spark/cvae_experiments/artifacts/midogpp/90_oracles_and_diagnostics/uniform_b_v2_consumed_test_fixed_bank_p_anchored_route_scoped_boundary_projected_pcsi_policy_regret_router/v2/reports/validation_report.json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/home/stud/spark/cvae_experiments/artifacts/midogpp/90_oracles_and_diagnostics/uniform_b_v2_consumed_test_fixed_bank_p_anchored_route_scoped_boundary_projected_pcsi_policy_regret_router/v2/reports/diagnostic_summary.json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/home/stud/spark/cvae_experiments/artifacts/midogpp/90_oracles_and_diagnostics/uniform_b_v2_consumed_test_fixed_bank_p_anchored_route_scoped_boundary_projected_pcsi_policy_regret_router/v2/reports/validation_report.json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/home/stud/spark/cvae_experiments/artifacts/midogpp/90_oracles_and_diagnostics/uniform_b_v2_consumed_test_fixed_bank_p_anchored_route_scoped_boundary_projected_pcsi_policy_regret_router/v2/reports/diagnostic_summary.json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/home/stud/spark/cvae_experiments/artifacts/midogpp/90_oracles_and_diagnostics/uniform_b_v2_consumed_test_fixed_bank_p_anchored_route_scoped_boundary_projected_pcsi_policy_regret_router/v2/reports/validation_report.json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/home/stud/spark/cvae_experiments/artifacts/midogpp/90_oracles_and_diagnostics/uniform_b_v2_consumed_test_fixed_bank_p_anchored_route_scoped_boundary_projected_pcsi_policy_regret_router/v2/reports/diagnostic_summary.json</a:t>
            </a:r>
          </a:p>
          <a:p xmlns:a="http://schemas.openxmlformats.org/drawingml/2006/main">
            <a:r>
              <a:t>- /home/stud/spark/cvae_experiments/artifacts/midogpp/90_oracles_and_diagnostics/uniform_b_v2_consumed_test_fixed_bank_p_anchored_route_scoped_boundary_projected_pcsi_policy_regret_router/v2/reports/validation_report.json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3a46dcbbd4f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df60e39cc34163" /><Relationship Type="http://schemas.openxmlformats.org/officeDocument/2006/relationships/slideLayout" Target="/ppt/slideLayouts/slideLayout1.xml" Id="R95cab8eee30449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cab8eee30449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e46cbd7544786" /><Relationship Type="http://schemas.openxmlformats.org/officeDocument/2006/relationships/notesSlide" Target="/ppt/notesSlides/notesSlide1.xml" Id="R112678b48db543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0f9d570ab4938" /><Relationship Type="http://schemas.openxmlformats.org/officeDocument/2006/relationships/notesSlide" Target="/ppt/notesSlides/notesSlide2.xml" Id="R5eada4c875e04f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859b8a4454493" /><Relationship Type="http://schemas.openxmlformats.org/officeDocument/2006/relationships/chart" Target="/ppt/slides/charts/chart1.xml" Id="R53ed7d0ad5db43bc" /><Relationship Type="http://schemas.openxmlformats.org/officeDocument/2006/relationships/notesSlide" Target="/ppt/notesSlides/notesSlide3.xml" Id="R645f2c6f4e0d47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0c3a6f5954c08" /><Relationship Type="http://schemas.openxmlformats.org/officeDocument/2006/relationships/notesSlide" Target="/ppt/notesSlides/notesSlide4.xml" Id="R77ad60f3991f477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Authorized case policies</c:v>
          </c:tx>
          <c:spPr>
            <a:solidFill xmlns:a="http://schemas.openxmlformats.org/drawingml/2006/main">
              <a:srgbClr val="D68A00"/>
            </a:solidFill>
          </c:spPr>
          <c:cat>
            <c:strLit>
              <c:ptCount val="3"/>
              <c:pt idx="0">
                <c:v>Projected observed-max</c:v>
              </c:pt>
              <c:pt idx="1">
                <c:v>Raw observed-max</c:v>
              </c:pt>
              <c:pt idx="2">
                <c:v>Projected no-envelope</c:v>
              </c:pt>
            </c:strLit>
          </c:cat>
          <c:val>
            <c:numLit>
              <c:formatCode>0</c:formatCode>
              <c:ptCount val="3"/>
              <c:pt idx="0">
                <c:v>0</c:v>
              </c:pt>
              <c:pt idx="1">
                <c:v>0</c:v>
              </c:pt>
              <c:pt idx="2">
                <c:v>11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2"/>
                    </a:solidFill>
                  </a:rPr>
                  <a:t>Case policies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2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BD0675D-4DAA-4AB1-8FD5-FD571F1F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STAGE 90 — PCSI-RACR DIAGNOSTIC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81FBA2BA-6BB5-4FFA-A121-BF1C04EA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5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F533037-3638-45E8-B748-7E5C5B8D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10287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Removing the envelope activates cases; the primary remains zero-route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E80C0EB-0F44-4C7F-9868-E9DE8982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Route-local transport and strict own-case noninterference</a:t>
            </a:r>
          </a:p>
        </p:txBody>
      </p:sp>
      <p:sp>
        <p:nvSpPr>
          <p:cNvPr id="5" name="cover-status-panel">
            <a:extLst xmlns:a="http://schemas.openxmlformats.org/drawingml/2006/main">
              <a:ext uri="{FF2B5EF4-FFF2-40B4-BE49-F238E27FC236}">
                <a16:creationId xmlns:a16="http://schemas.microsoft.com/office/drawing/2014/main" id="{963EB7F9-909A-4C67-A0F4-0C5EF2E6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1D0997CC-8025-4BF0-8653-CECA4A64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Validated • PASS_TERMINAL_DESCRIPTIVE_ONLY • consumed test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351E79C-59FC-40B0-8408-F8C5FB6F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PCSI-RACR v2 terminal bundle</a:t>
            </a:r>
          </a:p>
        </p:txBody>
      </p:sp>
    </p:spTree>
    <p:extLst>
      <p:ext uri="{BB962C8B-B14F-4D97-AF65-F5344CB8AC3E}">
        <p14:creationId xmlns:p14="http://schemas.microsoft.com/office/powerpoint/2010/main" val="751457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D995D1B-176F-4072-A97A-D5DB07CA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Route-scoped transport tests global calibration failure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82C82536-EB36-4C1F-9881-6097975E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8B215F78-2DF6-458B-A7AC-A043E8D2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5874CA6D-959D-47B5-8235-B40C3B78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D2F6D3CE-C482-456F-A95D-A8293DA1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667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local posterior sample-influence and regret transport authorize case policies safely?</a:t>
            </a:r>
          </a:p>
        </p:txBody>
      </p:sp>
      <p:sp>
        <p:nvSpPr>
          <p:cNvPr id="6" name="protocol-note">
            <a:extLst xmlns:a="http://schemas.openxmlformats.org/drawingml/2006/main">
              <a:ext uri="{FF2B5EF4-FFF2-40B4-BE49-F238E27FC236}">
                <a16:creationId xmlns:a16="http://schemas.microsoft.com/office/drawing/2014/main" id="{5A62C016-B98F-4455-814F-16F3D7FC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Six fenced inputs; 218 whole-case routes; exact P fallback.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BB17537C-0AE2-4DB0-97CD-0E1928C0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90650"/>
            <a:ext cx="14288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0B7C9EB7-AEAD-41F3-94B6-F28E4B0E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EC667B4E-EDB1-48F9-B57A-76908D46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09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Double exclusion</a:t>
            </a:r>
          </a:p>
        </p:txBody>
      </p:sp>
      <p:sp>
        <p:nvSpPr>
          <p:cNvPr id="10" name="step-text-0">
            <a:extLst xmlns:a="http://schemas.openxmlformats.org/drawingml/2006/main">
              <a:ext uri="{FF2B5EF4-FFF2-40B4-BE49-F238E27FC236}">
                <a16:creationId xmlns:a16="http://schemas.microsoft.com/office/drawing/2014/main" id="{764440BC-D5C5-485A-865F-38E4EAB3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Each held case is absent from the endpoint and posterior fit that routes it.</a:t>
            </a:r>
          </a:p>
        </p:txBody>
      </p:sp>
      <p:sp>
        <p:nvSpPr>
          <p:cNvPr id="11" name="step-rule-0">
            <a:extLst xmlns:a="http://schemas.openxmlformats.org/drawingml/2006/main">
              <a:ext uri="{FF2B5EF4-FFF2-40B4-BE49-F238E27FC236}">
                <a16:creationId xmlns:a16="http://schemas.microsoft.com/office/drawing/2014/main" id="{9596CEF3-B6FB-48F0-B96E-8E87F317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860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-1">
            <a:extLst xmlns:a="http://schemas.openxmlformats.org/drawingml/2006/main">
              <a:ext uri="{FF2B5EF4-FFF2-40B4-BE49-F238E27FC236}">
                <a16:creationId xmlns:a16="http://schemas.microsoft.com/office/drawing/2014/main" id="{5762FD52-D85F-42C2-919D-26E2CF0A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F267CC18-B963-451F-A0A5-1A0538BD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Boundary projection</a:t>
            </a:r>
          </a:p>
        </p:txBody>
      </p:sp>
      <p:sp>
        <p:nvSpPr>
          <p:cNvPr id="14" name="step-text-1">
            <a:extLst xmlns:a="http://schemas.openxmlformats.org/drawingml/2006/main">
              <a:ext uri="{FF2B5EF4-FFF2-40B4-BE49-F238E27FC236}">
                <a16:creationId xmlns:a16="http://schemas.microsoft.com/office/drawing/2014/main" id="{001F9965-9519-4D42-A123-9D2DBB03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Candidate utilities are projected into a route-local action space.</a:t>
            </a:r>
          </a:p>
        </p:txBody>
      </p:sp>
      <p:sp>
        <p:nvSpPr>
          <p:cNvPr id="15" name="step-rule-1">
            <a:extLst xmlns:a="http://schemas.openxmlformats.org/drawingml/2006/main">
              <a:ext uri="{FF2B5EF4-FFF2-40B4-BE49-F238E27FC236}">
                <a16:creationId xmlns:a16="http://schemas.microsoft.com/office/drawing/2014/main" id="{F784E82D-7B73-4B88-BFEF-72EE68E1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671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-2">
            <a:extLst xmlns:a="http://schemas.openxmlformats.org/drawingml/2006/main">
              <a:ext uri="{FF2B5EF4-FFF2-40B4-BE49-F238E27FC236}">
                <a16:creationId xmlns:a16="http://schemas.microsoft.com/office/drawing/2014/main" id="{62B5EC4F-7556-4605-BA59-4EBC5C3A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A970471C-2F70-4A36-91CF-CE55F3ED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Observed-max envelope</a:t>
            </a:r>
          </a:p>
        </p:txBody>
      </p:sp>
      <p:sp>
        <p:nvSpPr>
          <p:cNvPr id="18" name="step-text-2">
            <a:extLst xmlns:a="http://schemas.openxmlformats.org/drawingml/2006/main">
              <a:ext uri="{FF2B5EF4-FFF2-40B4-BE49-F238E27FC236}">
                <a16:creationId xmlns:a16="http://schemas.microsoft.com/office/drawing/2014/main" id="{2D7FD721-352F-4B4B-BAF0-34D199AB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Donor-case maxima impose conservative descriptive calibration.</a:t>
            </a:r>
          </a:p>
        </p:txBody>
      </p:sp>
      <p:sp>
        <p:nvSpPr>
          <p:cNvPr id="19" name="step-rule-2">
            <a:extLst xmlns:a="http://schemas.openxmlformats.org/drawingml/2006/main">
              <a:ext uri="{FF2B5EF4-FFF2-40B4-BE49-F238E27FC236}">
                <a16:creationId xmlns:a16="http://schemas.microsoft.com/office/drawing/2014/main" id="{7C443C78-BB44-406F-BFBD-CD59ACCC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482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-3">
            <a:extLst xmlns:a="http://schemas.openxmlformats.org/drawingml/2006/main">
              <a:ext uri="{FF2B5EF4-FFF2-40B4-BE49-F238E27FC236}">
                <a16:creationId xmlns:a16="http://schemas.microsoft.com/office/drawing/2014/main" id="{E4A69169-901E-4AB4-B855-BAD528A3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72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F54D26F4-4AAB-4BA3-9768-C6D65855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Fresh-process replay</a:t>
            </a:r>
          </a:p>
        </p:txBody>
      </p:sp>
      <p:sp>
        <p:nvSpPr>
          <p:cNvPr id="22" name="step-text-3">
            <a:extLst xmlns:a="http://schemas.openxmlformats.org/drawingml/2006/main">
              <a:ext uri="{FF2B5EF4-FFF2-40B4-BE49-F238E27FC236}">
                <a16:creationId xmlns:a16="http://schemas.microsoft.com/office/drawing/2014/main" id="{3BB21D3A-18FB-40D9-A5B2-D93C71EA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34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Two independent validators reconstruct all fitted outputs.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8022741-5730-4754-AC28-F17CC23D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PCSI-RACR v2 terminal bundle</a:t>
            </a:r>
          </a:p>
        </p:txBody>
      </p:sp>
    </p:spTree>
    <p:extLst>
      <p:ext uri="{BB962C8B-B14F-4D97-AF65-F5344CB8AC3E}">
        <p14:creationId xmlns:p14="http://schemas.microsoft.com/office/powerpoint/2010/main" val="1387607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6B63E15-8D60-4CC9-93D6-C8247B51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envelope is the immediate activity choke point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F46A9CB4-DAC4-4EE2-A3D2-32BD2769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5B40EC0D-ACD8-4476-95D1-66FB3955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primary-result-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7334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ed7d0ad5db43bc"/>
          </a:graphicData>
        </a:graphic>
      </p:graphicFrame>
      <p:sp>
        <p:nvSpPr>
          <p:cNvPr id="5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28B6CA06-7FDD-4A90-B3AB-DB757629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No-envelope activity is sensitivity only.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BFB6B12-3F68-41AC-88BF-7F1B9991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B14649A8-CAFB-4B39-9994-9A37A772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0.8073</a:t>
            </a:r>
          </a:p>
        </p:txBody>
      </p:sp>
      <p:sp>
        <p:nvSpPr>
          <p:cNvPr id="8" name="metric-text-0">
            <a:extLst xmlns:a="http://schemas.openxmlformats.org/drawingml/2006/main">
              <a:ext uri="{FF2B5EF4-FFF2-40B4-BE49-F238E27FC236}">
                <a16:creationId xmlns:a16="http://schemas.microsoft.com/office/drawing/2014/main" id="{8D00D8B0-E8E4-485D-8047-6F5F8DC6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Primary BACC: exact protected P</a:t>
            </a:r>
          </a:p>
        </p:txBody>
      </p:sp>
      <p:sp>
        <p:nvSpPr>
          <p:cNvPr id="9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C09D217E-DE98-491C-8480-E3509F2C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AE68F36D-43A3-4D12-BCDA-4C156510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3,488</a:t>
            </a:r>
          </a:p>
        </p:txBody>
      </p:sp>
      <p:sp>
        <p:nvSpPr>
          <p:cNvPr id="11" name="metric-text-1">
            <a:extLst xmlns:a="http://schemas.openxmlformats.org/drawingml/2006/main">
              <a:ext uri="{FF2B5EF4-FFF2-40B4-BE49-F238E27FC236}">
                <a16:creationId xmlns:a16="http://schemas.microsoft.com/office/drawing/2014/main" id="{A4AA7925-3F79-4A13-B271-183D528E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Endpoint fits and policy replays</a:t>
            </a:r>
          </a:p>
        </p:txBody>
      </p:sp>
      <p:sp>
        <p:nvSpPr>
          <p:cNvPr id="12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752B1343-9850-4DE9-9DB4-364419CA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C702F1B0-2CCB-44A4-A959-39A148E2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metric-text-2">
            <a:extLst xmlns:a="http://schemas.openxmlformats.org/drawingml/2006/main">
              <a:ext uri="{FF2B5EF4-FFF2-40B4-BE49-F238E27FC236}">
                <a16:creationId xmlns:a16="http://schemas.microsoft.com/office/drawing/2014/main" id="{32B50A8E-2889-47FC-B3F7-96C76D35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Independent fresh-process validators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09DDF6C-6B02-450C-AAC0-FD4CFB91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PCSI-RACR v2 terminal bundle</a:t>
            </a:r>
          </a:p>
        </p:txBody>
      </p:sp>
    </p:spTree>
    <p:extLst>
      <p:ext uri="{BB962C8B-B14F-4D97-AF65-F5344CB8AC3E}">
        <p14:creationId xmlns:p14="http://schemas.microsoft.com/office/powerpoint/2010/main" val="143942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3A9E1F70-713E-4141-B5A0-AAAE7F78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Uncertainty transport is the choke point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ED81C406-432B-42D6-9762-79A6B276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32FF4343-9C01-4294-955B-1C5AC3AF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pported-label">
            <a:extLst xmlns:a="http://schemas.openxmlformats.org/drawingml/2006/main">
              <a:ext uri="{FF2B5EF4-FFF2-40B4-BE49-F238E27FC236}">
                <a16:creationId xmlns:a16="http://schemas.microsoft.com/office/drawing/2014/main" id="{74B0A9E6-3205-41D7-BE90-CDEC3D25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SUPPORTED INTERPRETATION</a:t>
            </a:r>
          </a:p>
        </p:txBody>
      </p:sp>
      <p:sp>
        <p:nvSpPr>
          <p:cNvPr id="5" name="supported-text">
            <a:extLst xmlns:a="http://schemas.openxmlformats.org/drawingml/2006/main">
              <a:ext uri="{FF2B5EF4-FFF2-40B4-BE49-F238E27FC236}">
                <a16:creationId xmlns:a16="http://schemas.microsoft.com/office/drawing/2014/main" id="{2018E330-7615-4799-9972-DD6EE55C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048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Route-local projection exposes candidate actions, but observed-max calibration is too conservative to authorize any primary route.</a:t>
            </a:r>
          </a:p>
        </p:txBody>
      </p:sp>
      <p:sp>
        <p:nvSpPr>
          <p:cNvPr id="6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2BC827A0-C992-4025-9926-F865D3BA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Architecture-level diagnosis for objective 3.</a:t>
            </a:r>
          </a:p>
        </p:txBody>
      </p:sp>
      <p:sp>
        <p:nvSpPr>
          <p:cNvPr id="7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59CC743A-2480-4E0A-8E26-A13E6300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28750"/>
            <a:ext cx="14288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73EA6C50-409D-4E49-808E-354CD08E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04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CLAIM BOUNDARY</a:t>
            </a:r>
          </a:p>
        </p:txBody>
      </p:sp>
      <p:sp>
        <p:nvSpPr>
          <p:cNvPr id="9" name="boundary-text">
            <a:extLst xmlns:a="http://schemas.openxmlformats.org/drawingml/2006/main">
              <a:ext uri="{FF2B5EF4-FFF2-40B4-BE49-F238E27FC236}">
                <a16:creationId xmlns:a16="http://schemas.microsoft.com/office/drawing/2014/main" id="{5DB54BAC-67BA-4F47-9F83-01DCDABE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143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11 no-envelope cases are not a policy, guarantee, fresh result, or promotion candidate. The artifact records a dirty revision.</a:t>
            </a:r>
          </a:p>
        </p:txBody>
      </p:sp>
      <p:sp>
        <p:nvSpPr>
          <p:cNvPr id="10" name="next-panel">
            <a:extLst xmlns:a="http://schemas.openxmlformats.org/drawingml/2006/main">
              <a:ext uri="{FF2B5EF4-FFF2-40B4-BE49-F238E27FC236}">
                <a16:creationId xmlns:a16="http://schemas.microsoft.com/office/drawing/2014/main" id="{AA4F43A5-F2AC-47FD-84D3-DE75EC51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5143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ext-label">
            <a:extLst xmlns:a="http://schemas.openxmlformats.org/drawingml/2006/main">
              <a:ext uri="{FF2B5EF4-FFF2-40B4-BE49-F238E27FC236}">
                <a16:creationId xmlns:a16="http://schemas.microsoft.com/office/drawing/2014/main" id="{63316CE8-4C99-4C72-B06B-BA3B775D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NEXT DECISION</a:t>
            </a:r>
          </a:p>
        </p:txBody>
      </p:sp>
      <p:sp>
        <p:nvSpPr>
          <p:cNvPr id="12" name="next-text">
            <a:extLst xmlns:a="http://schemas.openxmlformats.org/drawingml/2006/main">
              <a:ext uri="{FF2B5EF4-FFF2-40B4-BE49-F238E27FC236}">
                <a16:creationId xmlns:a16="http://schemas.microsoft.com/office/drawing/2014/main" id="{075CB27A-AFFF-4905-A992-751C3AD3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 one frozen envelope on a fresh whole-case-disjoint surface or stop at the negative routing conclusion.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76AF096-F7B8-4409-9C24-BBAA4D70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PCSI-RACR v2 terminal bundle</a:t>
            </a:r>
          </a:p>
        </p:txBody>
      </p:sp>
    </p:spTree>
    <p:extLst>
      <p:ext uri="{BB962C8B-B14F-4D97-AF65-F5344CB8AC3E}">
        <p14:creationId xmlns:p14="http://schemas.microsoft.com/office/powerpoint/2010/main" val="1567641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2026-08-22T16:04:57.5130000Z</dcterms:created>
  <dcterms:modified xsi:type="dcterms:W3CDTF">2026-08-22T16:04:57.5130000Z</dcterms:modified>
</coreProperties>
</file>