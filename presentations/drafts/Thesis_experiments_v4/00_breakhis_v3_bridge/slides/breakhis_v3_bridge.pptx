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ead96f4744f2a" /><Relationship Type="http://schemas.openxmlformats.org/officeDocument/2006/relationships/extended-properties" Target="/docProps/app.xml" Id="R6fd57556e42b475b" /><Relationship Type="http://schemas.openxmlformats.org/officeDocument/2006/relationships/officeDocument" Target="/ppt/presentation.xml" Id="Rc1ce64a79f254b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8288c04f6482b"/>
  </p:sldMasterIdLst>
  <p:notesMasterIdLst>
    <p:notesMasterId xmlns:r="http://schemas.openxmlformats.org/officeDocument/2006/relationships" r:id="Rfa8232472c9640ef"/>
  </p:notesMasterIdLst>
  <p:sldIdLst>
    <p:sldId xmlns:r="http://schemas.openxmlformats.org/officeDocument/2006/relationships" id="256" r:id="R90346fedb13c4a5f"/>
    <p:sldId xmlns:r="http://schemas.openxmlformats.org/officeDocument/2006/relationships" id="257" r:id="Rd1ad09e395624980"/>
    <p:sldId xmlns:r="http://schemas.openxmlformats.org/officeDocument/2006/relationships" id="258" r:id="Rb21b442c653c417a"/>
    <p:sldId xmlns:r="http://schemas.openxmlformats.org/officeDocument/2006/relationships" id="259" r:id="Rba6d039ba3b242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8c3b0df444ef5" /><Relationship Type="http://schemas.openxmlformats.org/officeDocument/2006/relationships/slideMaster" Target="/ppt/slideMasters/slideMaster1.xml" Id="Ra5d8288c04f6482b" /><Relationship Type="http://schemas.openxmlformats.org/officeDocument/2006/relationships/notesMaster" Target="/ppt/notesMasters/notesMaster1.xml" Id="Rfa8232472c9640ef" /><Relationship Type="http://schemas.openxmlformats.org/officeDocument/2006/relationships/presProps" Target="/ppt/presProps.xml" Id="R2f869b112bb449f1" /><Relationship Type="http://schemas.openxmlformats.org/officeDocument/2006/relationships/tableStyles" Target="/ppt/tableStyles.xml" Id="R18425ccaa63047aa" /><Relationship Type="http://schemas.openxmlformats.org/officeDocument/2006/relationships/slide" Target="/ppt/slides/slide1.xml" Id="R90346fedb13c4a5f" /><Relationship Type="http://schemas.openxmlformats.org/officeDocument/2006/relationships/slide" Target="/ppt/slides/slide2.xml" Id="Rd1ad09e395624980" /><Relationship Type="http://schemas.openxmlformats.org/officeDocument/2006/relationships/slide" Target="/ppt/slides/slide3.xml" Id="Rb21b442c653c417a" /><Relationship Type="http://schemas.openxmlformats.org/officeDocument/2006/relationships/slide" Target="/ppt/slides/slide4.xml" Id="Rba6d039ba3b242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64f49c030347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f045b5531146bc" /><Relationship Type="http://schemas.openxmlformats.org/officeDocument/2006/relationships/notesMaster" Target="/ppt/notesMasters/notesMaster1.xml" Id="Rcc8b2347799448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51a650422b4283" /><Relationship Type="http://schemas.openxmlformats.org/officeDocument/2006/relationships/notesMaster" Target="/ppt/notesMasters/notesMaster1.xml" Id="R5ee0c94c0b6147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dcaf4635f846d2" /><Relationship Type="http://schemas.openxmlformats.org/officeDocument/2006/relationships/notesMaster" Target="/ppt/notesMasters/notesMaster1.xml" Id="Rdfa35abaac874c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5068f5085d4a0b" /><Relationship Type="http://schemas.openxmlformats.org/officeDocument/2006/relationships/notesMaster" Target="/ppt/notesMasters/notesMaster1.xml" Id="Rc59b7c3e6c3e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presentations/Thesis_experiment_v3.pdf</a:t>
            </a:r>
          </a:p>
          <a:p xmlns:a="http://schemas.openxmlformats.org/drawingml/2006/main">
            <a:r>
              <a:t>- presentations/drafts/current_progress_synthesis_2026-08-22.md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presentations/Thesis_experiment_v3.pdf</a:t>
            </a:r>
          </a:p>
          <a:p xmlns:a="http://schemas.openxmlformats.org/drawingml/2006/main">
            <a:r>
              <a:t>- presentations/drafts/current_progress_synthesis_2026-08-22.md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presentations/Thesis_experiment_v3.pdf</a:t>
            </a:r>
          </a:p>
          <a:p xmlns:a="http://schemas.openxmlformats.org/drawingml/2006/main">
            <a:r>
              <a:t>- presentations/drafts/current_progress_synthesis_2026-08-22.md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presentations/Thesis_experiment_v3.pdf</a:t>
            </a:r>
          </a:p>
          <a:p xmlns:a="http://schemas.openxmlformats.org/drawingml/2006/main">
            <a:r>
              <a:t>- presentations/drafts/current_progress_synthesis_2026-08-22.md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a8b6d23984a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305fd1bd546a1" /><Relationship Type="http://schemas.openxmlformats.org/officeDocument/2006/relationships/slideLayout" Target="/ppt/slideLayouts/slideLayout1.xml" Id="Rfe953750bc34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953750bc34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34b955da14a55" /><Relationship Type="http://schemas.openxmlformats.org/officeDocument/2006/relationships/notesSlide" Target="/ppt/notesSlides/notesSlide1.xml" Id="R97cb3b4a60ea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5ff7759d04b97" /><Relationship Type="http://schemas.openxmlformats.org/officeDocument/2006/relationships/notesSlide" Target="/ppt/notesSlides/notesSlide2.xml" Id="Rbdaf8546d0f64a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7c3d867e64cba" /><Relationship Type="http://schemas.openxmlformats.org/officeDocument/2006/relationships/chart" Target="/ppt/slides/charts/chart1.xml" Id="R5e457ba5fd7746cf" /><Relationship Type="http://schemas.openxmlformats.org/officeDocument/2006/relationships/notesSlide" Target="/ppt/notesSlides/notesSlide3.xml" Id="R02a617607c3b47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8a9f41de24f13" /><Relationship Type="http://schemas.openxmlformats.org/officeDocument/2006/relationships/notesSlide" Target="/ppt/notesSlides/notesSlide4.xml" Id="R9ad7c6fefe384de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BACC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NELBO top-1</c:v>
              </c:pt>
              <c:pt idx="1">
                <c:v>All-4 geo</c:v>
              </c:pt>
              <c:pt idx="2">
                <c:v>Cond. CVAE</c:v>
              </c:pt>
              <c:pt idx="3">
                <c:v>Dense arith.</c:v>
              </c:pt>
              <c:pt idx="4">
                <c:v>Dense geo</c:v>
              </c:pt>
              <c:pt idx="5">
                <c:v>GMM</c:v>
              </c:pt>
              <c:pt idx="6">
                <c:v>Real PCA64</c:v>
              </c:pt>
            </c:strLit>
          </c:cat>
          <c:val>
            <c:numLit>
              <c:formatCode>0.000</c:formatCode>
              <c:ptCount val="7"/>
              <c:pt idx="0">
                <c:v>0.5252</c:v>
              </c:pt>
              <c:pt idx="1">
                <c:v>0.5887</c:v>
              </c:pt>
              <c:pt idx="2">
                <c:v>0.7107</c:v>
              </c:pt>
              <c:pt idx="3">
                <c:v>0.7883</c:v>
              </c:pt>
              <c:pt idx="4">
                <c:v>0.8144</c:v>
              </c:pt>
              <c:pt idx="5">
                <c:v>0.8073</c:v>
              </c:pt>
              <c:pt idx="6">
                <c:v>0.862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Balanced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D8E3D21-A6DF-4D31-8775-A20E9345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PREVIOUS MEETING — CONCEPTUAL BRIDGE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9569A97-2A78-427B-BAB5-7E60EC30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74A524E-3852-4153-9857-415D1484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Dense composition already looked safer than sparse proxy routing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E1995F-5CDF-4BAB-8B61-DCD261A3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BreakHis / DINOv2 results that motivated the current MIDOG++ evidence chain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BFB8684E-C7C7-426A-B30F-F13A2ED5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0E7055E1-6508-47C8-9BD7-E394BAC5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Historical context • numeric results are not pooled with MIDOG++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5F055DD-3C32-4077-8A21-7D7AA03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Thesis_experiment_v3.pdf • historical context</a:t>
            </a:r>
          </a:p>
        </p:txBody>
      </p:sp>
    </p:spTree>
    <p:extLst>
      <p:ext uri="{BB962C8B-B14F-4D97-AF65-F5344CB8AC3E}">
        <p14:creationId xmlns:p14="http://schemas.microsoft.com/office/powerpoint/2010/main" val="1960563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BD632DB-5191-4A3C-BE1C-1BDB414A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prior deck isolated representation, generation, and routing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923F348-87F5-4668-8FC4-82B4C0C5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A85F7AF0-262E-48D1-8184-AEAA90C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CA6B5B2A-B185-4CA7-B950-AADB400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F3AFE5BA-8C88-4FFF-840F-A430699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 weak downstream performance caused by representation, generation, or routing?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BA81FC94-5A48-4F77-8688-BDA0EDE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Earlier benchmark and protocol. Use for qualitative continuity only.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7DEA3D56-D1D2-4491-ABD2-975B6C0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5A39D43C-4801-43B4-985F-45493F8A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14F67DDE-F7E7-43B5-9D5E-894AC53B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Representation reference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04D0B45B-1BCE-4DC5-9EAC-1588FDB0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Real PCA64 reconstruction tested whether compressed features retained task signal.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E191603E-C343-41AE-BDB5-283725F2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C3A6F164-1A63-47A2-A000-30E262C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64F23F3-741A-4F0D-BD1B-EBCB7A31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Generation mechanisms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E7B34002-47BC-435D-83C9-201BFE3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Unconditioned, class-conditioned, and GMM sampling isolated the generative loss.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5A657844-4D36-41CA-AF6D-6D14365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25B84764-5D79-4AC4-BB5A-EE461165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1E5AAB8-54C4-4BBD-A653-535E4DD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Sparse routing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ED050208-89BE-48A2-B894-1A5650B6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Support-NELBO top-k selection tested leakage-safe compatibility ranking.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3784B816-BE53-4E27-BF10-8DD63E8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FC229661-D632-434C-A73B-CAD3363A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9740119-16D3-4C9E-899A-6DFB298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Dense composition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905BBCFD-3EFB-4A93-B0FC-00B028AD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Arithmetic and geometric probability pooling reduced top-1 selection risk.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0086798-060E-4A60-B20A-792F36CC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Thesis_experiment_v3.pdf • historical context</a:t>
            </a:r>
          </a:p>
        </p:txBody>
      </p:sp>
    </p:spTree>
    <p:extLst>
      <p:ext uri="{BB962C8B-B14F-4D97-AF65-F5344CB8AC3E}">
        <p14:creationId xmlns:p14="http://schemas.microsoft.com/office/powerpoint/2010/main" val="1573869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27C1D98-96C9-424A-BC09-B399A06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Generation and dense composition closed most of the gap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E6402002-DBA7-4C07-9C7C-14638FCA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7A797E9D-8097-49D9-B39E-3C564CB6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457ba5fd7746cf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3E44CDE0-21DF-4273-8157-9D3E1A6C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Selected and reference results from Thesis_experiment_v3.pdf.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1258376-7168-45BC-B80E-5C6A71E0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1B03CA41-C453-4ECB-B35A-4A9D8C89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+0.0261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533D44C9-88C6-4265-AF3B-5A741926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Geometric vs arithmetic dense CVAE composition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FE9E30B4-3B30-429B-870F-8798976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589904AB-A3EC-4647-9A66-CF7BDC4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71ACEF36-520E-4722-9895-9419982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Centers improved by geometric pooling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53DCBFB0-A722-4F08-8BD5-650B785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52E7809-424D-42BB-86FB-76B080AA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0.862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BFFC130D-6E06-4B5E-BF71-D668B887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Real PCA64 reference: representation was not the main ceiling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E4CB22C-2956-4897-A895-D377A17A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Thesis_experiment_v3.pdf • historical context</a:t>
            </a:r>
          </a:p>
        </p:txBody>
      </p:sp>
    </p:spTree>
    <p:extLst>
      <p:ext uri="{BB962C8B-B14F-4D97-AF65-F5344CB8AC3E}">
        <p14:creationId xmlns:p14="http://schemas.microsoft.com/office/powerpoint/2010/main" val="1356767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EAAF265-277E-41B8-BADD-4DDCB74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program rebuilds the diagnosis more rigorously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BA48904A-E2D7-44F2-A4C7-02EE4A4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80EB441D-F0A7-4814-AF82-D88C2D0A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B8C20942-F09F-428F-B5F3-2878BF8C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DBD07CAB-8E47-4CF3-96FB-E706191A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Dense composition is robust; class conditioning and latent distribution modeling matter; proxy-based top-1 selection is brittle.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0D3D0A2E-18CE-49ED-B5F5-0152EBB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Bridge to objectives 2–5: generation, routing, composition, and downstream utility.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D866765E-A576-4118-93D1-E1FADB38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09FD0D6A-DEDF-4EC4-90F2-91817ADA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F2C1F3A0-1002-48F0-9E96-4E93D656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not compare absolute BreakHis and MIDOG++ values as if they were the same estimand. Dataset, backbone, domains, and protocol changed.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B09682EE-3135-45D5-9D72-D67B57A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1724F34F-2265-41FF-AE35-5C76A2DF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1CF52A61-1BA8-4058-9EC3-98861BB6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Re-test the same decomposition with pathology-specific features and staged evidence firewalls.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69D4C48-0E89-4D73-92C0-235478C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Thesis_experiment_v3.pdf • historical context</a:t>
            </a:r>
          </a:p>
        </p:txBody>
      </p:sp>
    </p:spTree>
    <p:extLst>
      <p:ext uri="{BB962C8B-B14F-4D97-AF65-F5344CB8AC3E}">
        <p14:creationId xmlns:p14="http://schemas.microsoft.com/office/powerpoint/2010/main" val="1330954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2026-08-22T16:04:49.1590000Z</dcterms:created>
  <dcterms:modified xsi:type="dcterms:W3CDTF">2026-08-22T16:04:49.1590000Z</dcterms:modified>
</coreProperties>
</file>