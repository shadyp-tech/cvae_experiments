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286c30551f744b4" /><Relationship Type="http://schemas.openxmlformats.org/officeDocument/2006/relationships/extended-properties" Target="/docProps/app.xml" Id="Rccb57c78dffa4c22" /><Relationship Type="http://schemas.openxmlformats.org/officeDocument/2006/relationships/officeDocument" Target="/ppt/presentation.xml" Id="Rb59838c43a1241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7bf3a9a5774c8c"/>
  </p:sldMasterIdLst>
  <p:notesMasterIdLst>
    <p:notesMasterId xmlns:r="http://schemas.openxmlformats.org/officeDocument/2006/relationships" r:id="R8977079072b44db1"/>
  </p:notesMasterIdLst>
  <p:sldIdLst>
    <p:sldId xmlns:r="http://schemas.openxmlformats.org/officeDocument/2006/relationships" id="256" r:id="Rf1ecbae258b345a5"/>
    <p:sldId xmlns:r="http://schemas.openxmlformats.org/officeDocument/2006/relationships" id="257" r:id="R3a5153b88a4f47fd"/>
    <p:sldId xmlns:r="http://schemas.openxmlformats.org/officeDocument/2006/relationships" id="258" r:id="R900fdd3c429f4b68"/>
    <p:sldId xmlns:r="http://schemas.openxmlformats.org/officeDocument/2006/relationships" id="259" r:id="R1aa83c3b3e92474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34dfa7ac714b35" /><Relationship Type="http://schemas.openxmlformats.org/officeDocument/2006/relationships/slideMaster" Target="/ppt/slideMasters/slideMaster1.xml" Id="Rc27bf3a9a5774c8c" /><Relationship Type="http://schemas.openxmlformats.org/officeDocument/2006/relationships/notesMaster" Target="/ppt/notesMasters/notesMaster1.xml" Id="R8977079072b44db1" /><Relationship Type="http://schemas.openxmlformats.org/officeDocument/2006/relationships/presProps" Target="/ppt/presProps.xml" Id="R1f3d520bfd6e40f5" /><Relationship Type="http://schemas.openxmlformats.org/officeDocument/2006/relationships/tableStyles" Target="/ppt/tableStyles.xml" Id="R3700564cb8ad40f1" /><Relationship Type="http://schemas.openxmlformats.org/officeDocument/2006/relationships/slide" Target="/ppt/slides/slide1.xml" Id="Rf1ecbae258b345a5" /><Relationship Type="http://schemas.openxmlformats.org/officeDocument/2006/relationships/slide" Target="/ppt/slides/slide2.xml" Id="R3a5153b88a4f47fd" /><Relationship Type="http://schemas.openxmlformats.org/officeDocument/2006/relationships/slide" Target="/ppt/slides/slide3.xml" Id="R900fdd3c429f4b68" /><Relationship Type="http://schemas.openxmlformats.org/officeDocument/2006/relationships/slide" Target="/ppt/slides/slide4.xml" Id="R1aa83c3b3e9247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d38ab112394f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5590aaeca04e99" /><Relationship Type="http://schemas.openxmlformats.org/officeDocument/2006/relationships/notesMaster" Target="/ppt/notesMasters/notesMaster1.xml" Id="R8bd64e73ee3349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e447508fc64004" /><Relationship Type="http://schemas.openxmlformats.org/officeDocument/2006/relationships/notesMaster" Target="/ppt/notesMasters/notesMaster1.xml" Id="Rab0062ec4338482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199df0a48e44ec" /><Relationship Type="http://schemas.openxmlformats.org/officeDocument/2006/relationships/notesMaster" Target="/ppt/notesMasters/notesMaster1.xml" Id="R8f50a95d5a8546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84341124dd440c9" /><Relationship Type="http://schemas.openxmlformats.org/officeDocument/2006/relationships/notesMaster" Target="/ppt/notesMasters/notesMaster1.xml" Id="R6ef14ba538004f0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docs/wiki/03-experiments/midogpp-real-feature-source-inner-classifier-reference.md</a:t>
            </a:r>
          </a:p>
          <a:p xmlns:a="http://schemas.openxmlformats.org/drawingml/2006/main">
            <a:r>
              <a:t>- MIDOG++: https://www.nature.com/articles/s41597-023-02327-4</a:t>
            </a:r>
          </a:p>
          <a:p xmlns:a="http://schemas.openxmlformats.org/drawingml/2006/main">
            <a:r>
              <a:t>- Virchow2: https://arxiv.org/html/2408.00738v2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docs/wiki/03-experiments/midogpp-real-feature-source-inner-classifier-reference.md</a:t>
            </a:r>
          </a:p>
          <a:p xmlns:a="http://schemas.openxmlformats.org/drawingml/2006/main">
            <a:r>
              <a:t>- MIDOG++: https://www.nature.com/articles/s41597-023-02327-4</a:t>
            </a:r>
          </a:p>
          <a:p xmlns:a="http://schemas.openxmlformats.org/drawingml/2006/main">
            <a:r>
              <a:t>- Virchow2: https://arxiv.org/html/2408.00738v2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docs/wiki/03-experiments/midogpp-real-feature-source-inner-classifier-reference.md</a:t>
            </a:r>
          </a:p>
          <a:p xmlns:a="http://schemas.openxmlformats.org/drawingml/2006/main">
            <a:r>
              <a:t>- MIDOG++: https://www.nature.com/articles/s41597-023-02327-4</a:t>
            </a:r>
          </a:p>
          <a:p xmlns:a="http://schemas.openxmlformats.org/drawingml/2006/main">
            <a:r>
              <a:t>- Virchow2: https://arxiv.org/html/2408.00738v2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docs/wiki/03-experiments/midogpp-real-feature-source-inner-classifier-reference.md</a:t>
            </a:r>
          </a:p>
          <a:p xmlns:a="http://schemas.openxmlformats.org/drawingml/2006/main">
            <a:r>
              <a:t>- MIDOG++: https://www.nature.com/articles/s41597-023-02327-4</a:t>
            </a:r>
          </a:p>
          <a:p xmlns:a="http://schemas.openxmlformats.org/drawingml/2006/main">
            <a:r>
              <a:t>- Virchow2: https://arxiv.org/html/2408.00738v2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523279e37f40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b106a194324b5f" /><Relationship Type="http://schemas.openxmlformats.org/officeDocument/2006/relationships/slideLayout" Target="/ppt/slideLayouts/slideLayout1.xml" Id="R4118a77c3a33411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18a77c3a33411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ee1eec25f645ba" /><Relationship Type="http://schemas.openxmlformats.org/officeDocument/2006/relationships/notesSlide" Target="/ppt/notesSlides/notesSlide1.xml" Id="Ree29cdb3421743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a6abd8e0d4113" /><Relationship Type="http://schemas.openxmlformats.org/officeDocument/2006/relationships/notesSlide" Target="/ppt/notesSlides/notesSlide2.xml" Id="R861c92f97fde43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9708cf67ce4423" /><Relationship Type="http://schemas.openxmlformats.org/officeDocument/2006/relationships/chart" Target="/ppt/slides/charts/chart1.xml" Id="R947b08f649e84533" /><Relationship Type="http://schemas.openxmlformats.org/officeDocument/2006/relationships/notesSlide" Target="/ppt/notesSlides/notesSlide3.xml" Id="R8224f4e8c22d448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0f880d12645ab" /><Relationship Type="http://schemas.openxmlformats.org/officeDocument/2006/relationships/notesSlide" Target="/ppt/notesSlides/notesSlide4.xml" Id="R34b796d86cd5497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BACC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2"/>
              <c:pt idx="0">
                <c:v>Untuned</c:v>
              </c:pt>
              <c:pt idx="1">
                <c:v>Source-inner tuned</c:v>
              </c:pt>
            </c:strLit>
          </c:cat>
          <c:val>
            <c:numLit>
              <c:formatCode>0.000</c:formatCode>
              <c:ptCount val="2"/>
              <c:pt idx="0">
                <c:v>0.665812</c:v>
              </c:pt>
              <c:pt idx="1">
                <c:v>0.740312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0000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82"/>
          <c:min val="0.5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75">
                    <a:solidFill>
                      <a:srgbClr val="5B6472"/>
                    </a:solidFill>
                  </a:rPr>
                  <a:t>Balanced accuracy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>
                  <a:solidFill>
                    <a:srgbClr val="5B6472"/>
                  </a:solidFill>
                </a:defRPr>
              </a:pPr>
            </a:p>
          </c:txPr>
        </c:title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</a:p>
        </c:txPr>
        <c:crossAx val="48650112"/>
        <c:crossBetween val="between"/>
        <c:majorUnit val="0.05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09723827-9D29-4B3D-91A7-3F1C7B46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STAGE 10 — REAL-FEATURE REFERENCE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8032F19A-1DC1-4673-9A9F-0F04C353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952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7DE3629-8E56-472D-BA4D-CDA287D4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2870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Source-inner tuning establishes a credible Virchow2 denominator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B9851F0-93E9-4823-B000-59BA13F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81400"/>
            <a:ext cx="914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MIDOG++ held-out-center transfer before any CVAE or routing decision</a:t>
            </a:r>
          </a:p>
        </p:txBody>
      </p:sp>
      <p:sp>
        <p:nvSpPr>
          <p:cNvPr id="5" name="cover-status-panel">
            <a:extLst xmlns:a="http://schemas.openxmlformats.org/drawingml/2006/main">
              <a:ext uri="{FF2B5EF4-FFF2-40B4-BE49-F238E27FC236}">
                <a16:creationId xmlns:a16="http://schemas.microsoft.com/office/drawing/2014/main" id="{7DA192AC-E755-45BF-89C1-40117E4F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9A0CBA48-308F-456A-90ED-BAFCCC282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24450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Validated • real_feature_transfer_only • target labels used for scoring only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BF229D1-6B10-480F-9D6D-46397A7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Stage-10 validated reference • BACC 0.740312</a:t>
            </a:r>
          </a:p>
        </p:txBody>
      </p:sp>
    </p:spTree>
    <p:extLst>
      <p:ext uri="{BB962C8B-B14F-4D97-AF65-F5344CB8AC3E}">
        <p14:creationId xmlns:p14="http://schemas.microsoft.com/office/powerpoint/2010/main" val="5435216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2F44E73-7A61-43F2-AB8B-55DE0385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reference isolates classifier choice from generation</a:t>
            </a:r>
          </a:p>
        </p:txBody>
      </p:sp>
      <p:sp>
        <p:nvSpPr>
          <p:cNvPr id="2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34005B3E-AF61-4C97-9788-B82B2A33F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5B681E76-6C0A-4E1D-856F-E3419D06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question-label">
            <a:extLst xmlns:a="http://schemas.openxmlformats.org/drawingml/2006/main">
              <a:ext uri="{FF2B5EF4-FFF2-40B4-BE49-F238E27FC236}">
                <a16:creationId xmlns:a16="http://schemas.microsoft.com/office/drawing/2014/main" id="{32874543-06BE-4338-BD08-F51C4F1C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668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RESEARCH QUESTION</a:t>
            </a:r>
          </a:p>
        </p:txBody>
      </p:sp>
      <p:sp>
        <p:nvSpPr>
          <p:cNvPr id="5" name="question">
            <a:extLst xmlns:a="http://schemas.openxmlformats.org/drawingml/2006/main">
              <a:ext uri="{FF2B5EF4-FFF2-40B4-BE49-F238E27FC236}">
                <a16:creationId xmlns:a16="http://schemas.microsoft.com/office/drawing/2014/main" id="{D44F6107-BF7B-445B-961A-D51EC3C8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667250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 source-inner model selection improve real-feature transfer without target-label leakage?</a:t>
            </a:r>
          </a:p>
        </p:txBody>
      </p:sp>
      <p:sp>
        <p:nvSpPr>
          <p:cNvPr id="6" name="protocol-note">
            <a:extLst xmlns:a="http://schemas.openxmlformats.org/drawingml/2006/main">
              <a:ext uri="{FF2B5EF4-FFF2-40B4-BE49-F238E27FC236}">
                <a16:creationId xmlns:a16="http://schemas.microsoft.com/office/drawing/2014/main" id="{DA20EDA8-5E54-40DC-88FE-F8C7D52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0150"/>
            <a:ext cx="4667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Nine eligible centers; center 4 quarantined; one classifier seed.</a:t>
            </a:r>
          </a:p>
        </p:txBody>
      </p:sp>
      <p:sp>
        <p:nvSpPr>
          <p:cNvPr id="7" name="column-rule">
            <a:extLst xmlns:a="http://schemas.openxmlformats.org/drawingml/2006/main">
              <a:ext uri="{FF2B5EF4-FFF2-40B4-BE49-F238E27FC236}">
                <a16:creationId xmlns:a16="http://schemas.microsoft.com/office/drawing/2014/main" id="{6D0EFBE3-5A0A-4A0D-91F9-D12D7559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390650"/>
            <a:ext cx="14288" cy="481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20E0EB3B-4FD2-4666-8232-05567445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28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step-label-0">
            <a:extLst xmlns:a="http://schemas.openxmlformats.org/drawingml/2006/main">
              <a:ext uri="{FF2B5EF4-FFF2-40B4-BE49-F238E27FC236}">
                <a16:creationId xmlns:a16="http://schemas.microsoft.com/office/drawing/2014/main" id="{FEDB6B02-D1E2-4F6F-88F0-1F16E4822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097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Hold out one center</a:t>
            </a:r>
          </a:p>
        </p:txBody>
      </p:sp>
      <p:sp>
        <p:nvSpPr>
          <p:cNvPr id="10" name="step-text-0">
            <a:extLst xmlns:a="http://schemas.openxmlformats.org/drawingml/2006/main">
              <a:ext uri="{FF2B5EF4-FFF2-40B4-BE49-F238E27FC236}">
                <a16:creationId xmlns:a16="http://schemas.microsoft.com/office/drawing/2014/main" id="{969358E3-BA67-4364-8B2F-9B5B9C01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Fit and select only on the other eight eligible centers.</a:t>
            </a:r>
          </a:p>
        </p:txBody>
      </p:sp>
      <p:sp>
        <p:nvSpPr>
          <p:cNvPr id="11" name="step-rule-0">
            <a:extLst xmlns:a="http://schemas.openxmlformats.org/drawingml/2006/main">
              <a:ext uri="{FF2B5EF4-FFF2-40B4-BE49-F238E27FC236}">
                <a16:creationId xmlns:a16="http://schemas.microsoft.com/office/drawing/2014/main" id="{98DA9E2F-B0D1-467E-8192-854BD8D1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860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C2AA6C13-6442-4CCD-8BE8-935CED2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098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step-label-1">
            <a:extLst xmlns:a="http://schemas.openxmlformats.org/drawingml/2006/main">
              <a:ext uri="{FF2B5EF4-FFF2-40B4-BE49-F238E27FC236}">
                <a16:creationId xmlns:a16="http://schemas.microsoft.com/office/drawing/2014/main" id="{96DF946F-C281-4911-9A15-645FFBC2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Tune source-inner</a:t>
            </a:r>
          </a:p>
        </p:txBody>
      </p:sp>
      <p:sp>
        <p:nvSpPr>
          <p:cNvPr id="14" name="step-text-1">
            <a:extLst xmlns:a="http://schemas.openxmlformats.org/drawingml/2006/main">
              <a:ext uri="{FF2B5EF4-FFF2-40B4-BE49-F238E27FC236}">
                <a16:creationId xmlns:a16="http://schemas.microsoft.com/office/drawing/2014/main" id="{A287B14F-6EEB-49E7-9D91-DFE959D3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718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Search C, class weighting, and iteration budget under a frozen rule.</a:t>
            </a:r>
          </a:p>
        </p:txBody>
      </p:sp>
      <p:sp>
        <p:nvSpPr>
          <p:cNvPr id="15" name="step-rule-1">
            <a:extLst xmlns:a="http://schemas.openxmlformats.org/drawingml/2006/main">
              <a:ext uri="{FF2B5EF4-FFF2-40B4-BE49-F238E27FC236}">
                <a16:creationId xmlns:a16="http://schemas.microsoft.com/office/drawing/2014/main" id="{6FFA4A5B-DAB2-4F54-9FC2-3DD41DA3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6671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um-2">
            <a:extLst xmlns:a="http://schemas.openxmlformats.org/drawingml/2006/main">
              <a:ext uri="{FF2B5EF4-FFF2-40B4-BE49-F238E27FC236}">
                <a16:creationId xmlns:a16="http://schemas.microsoft.com/office/drawing/2014/main" id="{1F170818-9B57-4BDF-809E-1B7455CD8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909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step-label-2">
            <a:extLst xmlns:a="http://schemas.openxmlformats.org/drawingml/2006/main">
              <a:ext uri="{FF2B5EF4-FFF2-40B4-BE49-F238E27FC236}">
                <a16:creationId xmlns:a16="http://schemas.microsoft.com/office/drawing/2014/main" id="{A7107890-348B-489C-8DE2-1B065FC5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719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Freeze threshold</a:t>
            </a:r>
          </a:p>
        </p:txBody>
      </p:sp>
      <p:sp>
        <p:nvSpPr>
          <p:cNvPr id="18" name="step-text-2">
            <a:extLst xmlns:a="http://schemas.openxmlformats.org/drawingml/2006/main">
              <a:ext uri="{FF2B5EF4-FFF2-40B4-BE49-F238E27FC236}">
                <a16:creationId xmlns:a16="http://schemas.microsoft.com/office/drawing/2014/main" id="{124CAF88-2E00-46B9-B6E6-D285AAA9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529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The one-SE rule returns 0.5 in all nine folds.</a:t>
            </a:r>
          </a:p>
        </p:txBody>
      </p:sp>
      <p:sp>
        <p:nvSpPr>
          <p:cNvPr id="19" name="step-rule-2">
            <a:extLst xmlns:a="http://schemas.openxmlformats.org/drawingml/2006/main">
              <a:ext uri="{FF2B5EF4-FFF2-40B4-BE49-F238E27FC236}">
                <a16:creationId xmlns:a16="http://schemas.microsoft.com/office/drawing/2014/main" id="{7D34CE2B-E399-447D-A7CF-CE3FE4C3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48225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um-3">
            <a:extLst xmlns:a="http://schemas.openxmlformats.org/drawingml/2006/main">
              <a:ext uri="{FF2B5EF4-FFF2-40B4-BE49-F238E27FC236}">
                <a16:creationId xmlns:a16="http://schemas.microsoft.com/office/drawing/2014/main" id="{10CB18B1-5468-4E23-B01A-4AB0CD6F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720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step-label-3">
            <a:extLst xmlns:a="http://schemas.openxmlformats.org/drawingml/2006/main">
              <a:ext uri="{FF2B5EF4-FFF2-40B4-BE49-F238E27FC236}">
                <a16:creationId xmlns:a16="http://schemas.microsoft.com/office/drawing/2014/main" id="{B8061B0B-FD23-4011-B920-9DF9F55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530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Score target last</a:t>
            </a:r>
          </a:p>
        </p:txBody>
      </p:sp>
      <p:sp>
        <p:nvSpPr>
          <p:cNvPr id="22" name="step-text-3">
            <a:extLst xmlns:a="http://schemas.openxmlformats.org/drawingml/2006/main">
              <a:ext uri="{FF2B5EF4-FFF2-40B4-BE49-F238E27FC236}">
                <a16:creationId xmlns:a16="http://schemas.microsoft.com/office/drawing/2014/main" id="{28775A3D-5905-4002-AD21-D917AFE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33400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Target labels enter only after classifier and threshold are fixed.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8A5424B-8AB7-4418-A82D-4BFF05E7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Stage-10 validated reference • BACC 0.740312</a:t>
            </a:r>
          </a:p>
        </p:txBody>
      </p:sp>
    </p:spTree>
    <p:extLst>
      <p:ext uri="{BB962C8B-B14F-4D97-AF65-F5344CB8AC3E}">
        <p14:creationId xmlns:p14="http://schemas.microsoft.com/office/powerpoint/2010/main" val="1936318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C74585A5-7CFD-43AE-A7CD-71F4B2A0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Classifier selection raises BACC by 7.45 points</a:t>
            </a:r>
          </a:p>
        </p:txBody>
      </p:sp>
      <p:sp>
        <p:nvSpPr>
          <p:cNvPr id="2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A0224408-DADB-45A5-9414-74379A909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88C9E883-C9CF-4339-8B75-EDB354235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19" name="primary-result-chart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7334250" cy="4667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47b08f649e84533"/>
          </a:graphicData>
        </a:graphic>
      </p:graphicFrame>
      <p:sp>
        <p:nvSpPr>
          <p:cNvPr id="5" name="chart-caption">
            <a:extLst xmlns:a="http://schemas.openxmlformats.org/drawingml/2006/main">
              <a:ext uri="{FF2B5EF4-FFF2-40B4-BE49-F238E27FC236}">
                <a16:creationId xmlns:a16="http://schemas.microsoft.com/office/drawing/2014/main" id="{240C8467-B628-4999-8769-9833DAEA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115050"/>
            <a:ext cx="714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Equal-center mean on real Virchow2 features.</a:t>
            </a:r>
          </a:p>
        </p:txBody>
      </p:sp>
      <p:sp>
        <p:nvSpPr>
          <p:cNvPr id="6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C0A51CF7-7CA6-4488-A8B6-7D691FAB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76375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WHAT CHANGED</a:t>
            </a:r>
          </a:p>
        </p:txBody>
      </p:sp>
      <p:sp>
        <p:nvSpPr>
          <p:cNvPr id="7" name="metric-value-0">
            <a:extLst xmlns:a="http://schemas.openxmlformats.org/drawingml/2006/main">
              <a:ext uri="{FF2B5EF4-FFF2-40B4-BE49-F238E27FC236}">
                <a16:creationId xmlns:a16="http://schemas.microsoft.com/office/drawing/2014/main" id="{E4A57861-8035-4487-8A90-40A21E8D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812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+0.0745</a:t>
            </a:r>
          </a:p>
        </p:txBody>
      </p:sp>
      <p:sp>
        <p:nvSpPr>
          <p:cNvPr id="8" name="metric-text-0">
            <a:extLst xmlns:a="http://schemas.openxmlformats.org/drawingml/2006/main">
              <a:ext uri="{FF2B5EF4-FFF2-40B4-BE49-F238E27FC236}">
                <a16:creationId xmlns:a16="http://schemas.microsoft.com/office/drawing/2014/main" id="{B12F4C58-043C-4685-8A29-01992AAC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Mean BACC improvement</a:t>
            </a:r>
          </a:p>
        </p:txBody>
      </p:sp>
      <p:sp>
        <p:nvSpPr>
          <p:cNvPr id="9" name="metric-rule-1">
            <a:extLst xmlns:a="http://schemas.openxmlformats.org/drawingml/2006/main">
              <a:ext uri="{FF2B5EF4-FFF2-40B4-BE49-F238E27FC236}">
                <a16:creationId xmlns:a16="http://schemas.microsoft.com/office/drawing/2014/main" id="{B822FB42-6F8F-44EA-9DCA-509F0148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etric-value-1">
            <a:extLst xmlns:a="http://schemas.openxmlformats.org/drawingml/2006/main">
              <a:ext uri="{FF2B5EF4-FFF2-40B4-BE49-F238E27FC236}">
                <a16:creationId xmlns:a16="http://schemas.microsoft.com/office/drawing/2014/main" id="{3C90F155-2923-4D15-8931-1D70C48F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9 / 9</a:t>
            </a:r>
          </a:p>
        </p:txBody>
      </p:sp>
      <p:sp>
        <p:nvSpPr>
          <p:cNvPr id="11" name="metric-text-1">
            <a:extLst xmlns:a="http://schemas.openxmlformats.org/drawingml/2006/main">
              <a:ext uri="{FF2B5EF4-FFF2-40B4-BE49-F238E27FC236}">
                <a16:creationId xmlns:a16="http://schemas.microsoft.com/office/drawing/2014/main" id="{E2F2E5D1-C41C-49DE-8528-3E8C1FE6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4810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Held-out centers improved</a:t>
            </a:r>
          </a:p>
        </p:txBody>
      </p:sp>
      <p:sp>
        <p:nvSpPr>
          <p:cNvPr id="12" name="metric-rule-2">
            <a:extLst xmlns:a="http://schemas.openxmlformats.org/drawingml/2006/main">
              <a:ext uri="{FF2B5EF4-FFF2-40B4-BE49-F238E27FC236}">
                <a16:creationId xmlns:a16="http://schemas.microsoft.com/office/drawing/2014/main" id="{694816BA-7D38-4C6C-BAE2-C194774B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etric-value-2">
            <a:extLst xmlns:a="http://schemas.openxmlformats.org/drawingml/2006/main">
              <a:ext uri="{FF2B5EF4-FFF2-40B4-BE49-F238E27FC236}">
                <a16:creationId xmlns:a16="http://schemas.microsoft.com/office/drawing/2014/main" id="{4F2392F8-0B05-4B54-885F-5814AE11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86300"/>
            <a:ext cx="314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+0.0000</a:t>
            </a:r>
          </a:p>
        </p:txBody>
      </p:sp>
      <p:sp>
        <p:nvSpPr>
          <p:cNvPr id="14" name="metric-text-2">
            <a:extLst xmlns:a="http://schemas.openxmlformats.org/drawingml/2006/main">
              <a:ext uri="{FF2B5EF4-FFF2-40B4-BE49-F238E27FC236}">
                <a16:creationId xmlns:a16="http://schemas.microsoft.com/office/drawing/2014/main" id="{4608330D-1CEF-4DEC-9F2F-D275A9734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2006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Additional gain from threshold tuning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4A1E690-196F-40BD-8ADC-06D8BDEC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Stage-10 validated reference • BACC 0.740312</a:t>
            </a:r>
          </a:p>
        </p:txBody>
      </p:sp>
    </p:spTree>
    <p:extLst>
      <p:ext uri="{BB962C8B-B14F-4D97-AF65-F5344CB8AC3E}">
        <p14:creationId xmlns:p14="http://schemas.microsoft.com/office/powerpoint/2010/main" val="6480785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D788199-90F3-4A3F-A5F7-9FAB6ED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Later losses are not explained by an empty representation</a:t>
            </a:r>
          </a:p>
        </p:txBody>
      </p:sp>
      <p:sp>
        <p:nvSpPr>
          <p:cNvPr id="2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1EF0B771-C18E-43F3-AEA7-7308589C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09575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rule-112">
            <a:extLst xmlns:a="http://schemas.openxmlformats.org/drawingml/2006/main">
              <a:ext uri="{FF2B5EF4-FFF2-40B4-BE49-F238E27FC236}">
                <a16:creationId xmlns:a16="http://schemas.microsoft.com/office/drawing/2014/main" id="{D0083E01-1B23-45B7-99EE-A5477FDB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113919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supported-label">
            <a:extLst xmlns:a="http://schemas.openxmlformats.org/drawingml/2006/main">
              <a:ext uri="{FF2B5EF4-FFF2-40B4-BE49-F238E27FC236}">
                <a16:creationId xmlns:a16="http://schemas.microsoft.com/office/drawing/2014/main" id="{F2AEA246-8BB7-47F0-8CCE-2E329D45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SUPPORTED INTERPRETATION</a:t>
            </a:r>
          </a:p>
        </p:txBody>
      </p:sp>
      <p:sp>
        <p:nvSpPr>
          <p:cNvPr id="5" name="supported-text">
            <a:extLst xmlns:a="http://schemas.openxmlformats.org/drawingml/2006/main">
              <a:ext uri="{FF2B5EF4-FFF2-40B4-BE49-F238E27FC236}">
                <a16:creationId xmlns:a16="http://schemas.microsoft.com/office/drawing/2014/main" id="{84E1BE41-3F30-4667-8CB6-AA19EB5F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048250" cy="318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Real Virchow2 features carry meaningful cross-center task signal, and source-inner classifier selection materially strengthens the denominator.</a:t>
            </a:r>
          </a:p>
        </p:txBody>
      </p:sp>
      <p:sp>
        <p:nvSpPr>
          <p:cNvPr id="6" name="objective-text">
            <a:extLst xmlns:a="http://schemas.openxmlformats.org/drawingml/2006/main">
              <a:ext uri="{FF2B5EF4-FFF2-40B4-BE49-F238E27FC236}">
                <a16:creationId xmlns:a16="http://schemas.microsoft.com/office/drawing/2014/main" id="{88A023F0-7B53-40A7-AE8E-A23C31B0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Objective 1 achieved for the reference surface; prerequisite for objective 2.</a:t>
            </a:r>
          </a:p>
        </p:txBody>
      </p:sp>
      <p:sp>
        <p:nvSpPr>
          <p:cNvPr id="7" name="conclusion-rule">
            <a:extLst xmlns:a="http://schemas.openxmlformats.org/drawingml/2006/main">
              <a:ext uri="{FF2B5EF4-FFF2-40B4-BE49-F238E27FC236}">
                <a16:creationId xmlns:a16="http://schemas.microsoft.com/office/drawing/2014/main" id="{638B37DB-4BA5-4384-AC41-E98B64CB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14288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boundary-label">
            <a:extLst xmlns:a="http://schemas.openxmlformats.org/drawingml/2006/main">
              <a:ext uri="{FF2B5EF4-FFF2-40B4-BE49-F238E27FC236}">
                <a16:creationId xmlns:a16="http://schemas.microsoft.com/office/drawing/2014/main" id="{732EF731-4CC2-48E7-8074-74E3D420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50495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C43D4B"/>
                </a:solidFill>
                <a:latin typeface="Helvetica Neue"/>
                <a:ea typeface="Helvetica Neue"/>
                <a:cs typeface="Helvetica Neue"/>
              </a:rPr>
              <a:t>CLAIM BOUNDARY</a:t>
            </a:r>
          </a:p>
        </p:txBody>
      </p:sp>
      <p:sp>
        <p:nvSpPr>
          <p:cNvPr id="9" name="boundary-text">
            <a:extLst xmlns:a="http://schemas.openxmlformats.org/drawingml/2006/main">
              <a:ext uri="{FF2B5EF4-FFF2-40B4-BE49-F238E27FC236}">
                <a16:creationId xmlns:a16="http://schemas.microsoft.com/office/drawing/2014/main" id="{57A70960-E97E-46D7-923B-802F89C1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52625"/>
            <a:ext cx="5143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This is not CVAE preservation, synthetic utility, compatibility ranking, or routing evidence. One classifier seed limits stability claims.</a:t>
            </a:r>
          </a:p>
        </p:txBody>
      </p:sp>
      <p:sp>
        <p:nvSpPr>
          <p:cNvPr id="10" name="next-panel">
            <a:extLst xmlns:a="http://schemas.openxmlformats.org/drawingml/2006/main">
              <a:ext uri="{FF2B5EF4-FFF2-40B4-BE49-F238E27FC236}">
                <a16:creationId xmlns:a16="http://schemas.microsoft.com/office/drawing/2014/main" id="{F8B9EC61-1C80-4B56-AF4B-1D42D04D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362450"/>
            <a:ext cx="51435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next-label">
            <a:extLst xmlns:a="http://schemas.openxmlformats.org/drawingml/2006/main">
              <a:ext uri="{FF2B5EF4-FFF2-40B4-BE49-F238E27FC236}">
                <a16:creationId xmlns:a16="http://schemas.microsoft.com/office/drawing/2014/main" id="{6E8772D4-F37D-4436-A674-5D493726D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910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2A9D6F"/>
                </a:solidFill>
                <a:latin typeface="Helvetica Neue"/>
                <a:ea typeface="Helvetica Neue"/>
                <a:cs typeface="Helvetica Neue"/>
              </a:rPr>
              <a:t>NEXT DECISION</a:t>
            </a:r>
          </a:p>
        </p:txBody>
      </p:sp>
      <p:sp>
        <p:nvSpPr>
          <p:cNvPr id="12" name="next-text">
            <a:extLst xmlns:a="http://schemas.openxmlformats.org/drawingml/2006/main">
              <a:ext uri="{FF2B5EF4-FFF2-40B4-BE49-F238E27FC236}">
                <a16:creationId xmlns:a16="http://schemas.microsoft.com/office/drawing/2014/main" id="{31431095-BD53-4B86-B2FD-C917D38B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720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CVAE outputs against this frozen reference and keep all target selection closed.</a:t>
            </a:r>
          </a:p>
        </p:txBody>
      </p:sp>
      <p:sp>
        <p:nvSpPr>
          <p:cNvPr id="1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214CC2B-99AA-4EB8-A44D-6F1A0185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96050"/>
            <a:ext cx="1038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B6472"/>
                </a:solidFill>
                <a:latin typeface="Helvetica Neue"/>
                <a:ea typeface="Helvetica Neue"/>
                <a:cs typeface="Helvetica Neue"/>
              </a:rPr>
              <a:t>Source: Stage-10 validated reference • BACC 0.740312</a:t>
            </a:r>
          </a:p>
        </p:txBody>
      </p:sp>
    </p:spTree>
    <p:extLst>
      <p:ext uri="{BB962C8B-B14F-4D97-AF65-F5344CB8AC3E}">
        <p14:creationId xmlns:p14="http://schemas.microsoft.com/office/powerpoint/2010/main" val="18765648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2026-08-22T16:04:50.6120000Z</dcterms:created>
  <dcterms:modified xsi:type="dcterms:W3CDTF">2026-08-22T16:04:50.6120000Z</dcterms:modified>
</coreProperties>
</file>