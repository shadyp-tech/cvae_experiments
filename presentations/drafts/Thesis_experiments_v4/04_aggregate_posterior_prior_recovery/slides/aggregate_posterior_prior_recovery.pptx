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c551b394e9408d" /><Relationship Type="http://schemas.openxmlformats.org/officeDocument/2006/relationships/extended-properties" Target="/docProps/app.xml" Id="Ra7142adfffb14ba7" /><Relationship Type="http://schemas.openxmlformats.org/officeDocument/2006/relationships/officeDocument" Target="/ppt/presentation.xml" Id="Re3a3d260ed924d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a5662a64bf4334"/>
  </p:sldMasterIdLst>
  <p:notesMasterIdLst>
    <p:notesMasterId xmlns:r="http://schemas.openxmlformats.org/officeDocument/2006/relationships" r:id="R430c1b9f4244414e"/>
  </p:notesMasterIdLst>
  <p:sldIdLst>
    <p:sldId xmlns:r="http://schemas.openxmlformats.org/officeDocument/2006/relationships" id="256" r:id="R343ddec9243b4b27"/>
    <p:sldId xmlns:r="http://schemas.openxmlformats.org/officeDocument/2006/relationships" id="257" r:id="R7ca2d88a087146a6"/>
    <p:sldId xmlns:r="http://schemas.openxmlformats.org/officeDocument/2006/relationships" id="258" r:id="Rda917d7f50824e1f"/>
    <p:sldId xmlns:r="http://schemas.openxmlformats.org/officeDocument/2006/relationships" id="259" r:id="Raea8c2599dd14eb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838c35c02a491a" /><Relationship Type="http://schemas.openxmlformats.org/officeDocument/2006/relationships/slideMaster" Target="/ppt/slideMasters/slideMaster1.xml" Id="R9ea5662a64bf4334" /><Relationship Type="http://schemas.openxmlformats.org/officeDocument/2006/relationships/notesMaster" Target="/ppt/notesMasters/notesMaster1.xml" Id="R430c1b9f4244414e" /><Relationship Type="http://schemas.openxmlformats.org/officeDocument/2006/relationships/presProps" Target="/ppt/presProps.xml" Id="R4572f6788d1f4e5b" /><Relationship Type="http://schemas.openxmlformats.org/officeDocument/2006/relationships/tableStyles" Target="/ppt/tableStyles.xml" Id="R82a137d7046e46df" /><Relationship Type="http://schemas.openxmlformats.org/officeDocument/2006/relationships/slide" Target="/ppt/slides/slide1.xml" Id="R343ddec9243b4b27" /><Relationship Type="http://schemas.openxmlformats.org/officeDocument/2006/relationships/slide" Target="/ppt/slides/slide2.xml" Id="R7ca2d88a087146a6" /><Relationship Type="http://schemas.openxmlformats.org/officeDocument/2006/relationships/slide" Target="/ppt/slides/slide3.xml" Id="Rda917d7f50824e1f" /><Relationship Type="http://schemas.openxmlformats.org/officeDocument/2006/relationships/slide" Target="/ppt/slides/slide4.xml" Id="Raea8c2599dd14e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a520048238742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a82149e9d9461a" /><Relationship Type="http://schemas.openxmlformats.org/officeDocument/2006/relationships/notesMaster" Target="/ppt/notesMasters/notesMaster1.xml" Id="R223b7165241544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cb70ed4ab34bf7" /><Relationship Type="http://schemas.openxmlformats.org/officeDocument/2006/relationships/notesMaster" Target="/ppt/notesMasters/notesMaster1.xml" Id="R157af57749c242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f99bfda76c4400" /><Relationship Type="http://schemas.openxmlformats.org/officeDocument/2006/relationships/notesMaster" Target="/ppt/notesMasters/notesMaster1.xml" Id="R7c5fa4ffb28440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98934e7300942ad" /><Relationship Type="http://schemas.openxmlformats.org/officeDocument/2006/relationships/notesMaster" Target="/ppt/notesMasters/notesMaster1.xml" Id="R607651ceba3549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docs/context/current_experimental_state.md</a:t>
            </a:r>
          </a:p>
          <a:p xmlns:a="http://schemas.openxmlformats.org/drawingml/2006/main">
            <a:r>
              <a:t>- docs/wiki/03-experiments/midogpp-uniform-b-v2-routing-authorized-expert-bank-v1.md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docs/context/current_experimental_state.md</a:t>
            </a:r>
          </a:p>
          <a:p xmlns:a="http://schemas.openxmlformats.org/drawingml/2006/main">
            <a:r>
              <a:t>- docs/wiki/03-experiments/midogpp-uniform-b-v2-routing-authorized-expert-bank-v1.md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docs/context/current_experimental_state.md</a:t>
            </a:r>
          </a:p>
          <a:p xmlns:a="http://schemas.openxmlformats.org/drawingml/2006/main">
            <a:r>
              <a:t>- docs/wiki/03-experiments/midogpp-uniform-b-v2-routing-authorized-expert-bank-v1.md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docs/context/current_experimental_state.md</a:t>
            </a:r>
          </a:p>
          <a:p xmlns:a="http://schemas.openxmlformats.org/drawingml/2006/main">
            <a:r>
              <a:t>- docs/wiki/03-experiments/midogpp-uniform-b-v2-routing-authorized-expert-bank-v1.md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9a885d017341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d5b00007964a56" /><Relationship Type="http://schemas.openxmlformats.org/officeDocument/2006/relationships/slideLayout" Target="/ppt/slideLayouts/slideLayout1.xml" Id="R0443f884ab224e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43f884ab224e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1214e6ac494237" /><Relationship Type="http://schemas.openxmlformats.org/officeDocument/2006/relationships/notesSlide" Target="/ppt/notesSlides/notesSlide1.xml" Id="Rec8a9d89a5c049f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c3f5c5fc8848f5" /><Relationship Type="http://schemas.openxmlformats.org/officeDocument/2006/relationships/notesSlide" Target="/ppt/notesSlides/notesSlide2.xml" Id="Re096de75767c44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b19998390241bd" /><Relationship Type="http://schemas.openxmlformats.org/officeDocument/2006/relationships/chart" Target="/ppt/slides/charts/chart1.xml" Id="Racd9678f8601473a" /><Relationship Type="http://schemas.openxmlformats.org/officeDocument/2006/relationships/notesSlide" Target="/ppt/notesSlides/notesSlide3.xml" Id="R6123e44796ab4bc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a3da3615574634" /><Relationship Type="http://schemas.openxmlformats.org/officeDocument/2006/relationships/notesSlide" Target="/ppt/notesSlides/notesSlide4.xml" Id="Rf5589f73fb4e4ca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BACC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5"/>
              <c:pt idx="0">
                <c:v>P0</c:v>
              </c:pt>
              <c:pt idx="1">
                <c:v>PCA-only</c:v>
              </c:pt>
              <c:pt idx="2">
                <c:v>PS</c:v>
              </c:pt>
              <c:pt idx="3">
                <c:v>Post. mean</c:v>
              </c:pt>
              <c:pt idx="4">
                <c:v>Q</c:v>
              </c:pt>
            </c:strLit>
          </c:cat>
          <c:val>
            <c:numLit>
              <c:formatCode>0.000</c:formatCode>
              <c:ptCount val="5"/>
              <c:pt idx="0">
                <c:v>0.757348</c:v>
              </c:pt>
              <c:pt idx="1">
                <c:v>0.766401</c:v>
              </c:pt>
              <c:pt idx="2">
                <c:v>0.770112</c:v>
              </c:pt>
              <c:pt idx="3">
                <c:v>0.771145</c:v>
              </c:pt>
              <c:pt idx="4">
                <c:v>0.771571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0.775"/>
          <c:min val="0.7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>
                    <a:solidFill>
                      <a:srgbClr val="5B6472"/>
                    </a:solidFill>
                  </a:rPr>
                  <a:t>Source-inner BACC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5B6472"/>
                  </a:solidFill>
                </a:defRPr>
              </a:pPr>
            </a:p>
          </c:txPr>
        </c:title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</a:p>
        </c:txPr>
        <c:crossAx val="48650112"/>
        <c:crossBetween val="between"/>
        <c:majorUnit val="0.005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6218A272-739F-4583-BFD0-5892C7AA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rPr>
              <a:t>STAGE 20 — PRIOR RECOVERY</a:t>
            </a:r>
          </a:p>
        </p:txBody>
      </p:sp>
      <p:sp>
        <p:nvSpPr>
          <p:cNvPr id="2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67315115-F057-4144-889F-B24284EBE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952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F4BFA96-9C14-437D-ACA1-96E154F5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28700"/>
            <a:ext cx="102870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source-only aggregate prior nearly reaches posterior sampling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58EC6775-48FB-464E-9957-2DBBFAE4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914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Recovering deployable CVAE utility before expert-bank promotion</a:t>
            </a:r>
          </a:p>
        </p:txBody>
      </p:sp>
      <p:sp>
        <p:nvSpPr>
          <p:cNvPr id="5" name="cover-status-panel">
            <a:extLst xmlns:a="http://schemas.openxmlformats.org/drawingml/2006/main">
              <a:ext uri="{FF2B5EF4-FFF2-40B4-BE49-F238E27FC236}">
                <a16:creationId xmlns:a16="http://schemas.microsoft.com/office/drawing/2014/main" id="{91ED4230-E400-4588-AE7E-3E7A01B6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1066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status">
            <a:extLst xmlns:a="http://schemas.openxmlformats.org/drawingml/2006/main">
              <a:ext uri="{FF2B5EF4-FFF2-40B4-BE49-F238E27FC236}">
                <a16:creationId xmlns:a16="http://schemas.microsoft.com/office/drawing/2014/main" id="{6EF5D41B-E15C-45A3-986B-FB3D42DC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24450"/>
            <a:ext cx="1019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rPr>
              <a:t>Complete and validated • source-inner mechanism evidence</a:t>
            </a:r>
          </a:p>
        </p:txBody>
      </p:sp>
      <p:sp>
        <p:nvSpPr>
          <p:cNvPr id="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073CD9A7-09C3-4D34-9154-4461BB02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Source: Uniform-B aggregate-prior union v2 study</a:t>
            </a:r>
          </a:p>
        </p:txBody>
      </p:sp>
    </p:spTree>
    <p:extLst>
      <p:ext uri="{BB962C8B-B14F-4D97-AF65-F5344CB8AC3E}">
        <p14:creationId xmlns:p14="http://schemas.microsoft.com/office/powerpoint/2010/main" val="13839877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22FB8215-37E0-48AE-B8C3-31CF29905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Prior recovery follows from the preservation diagnosis</a:t>
            </a:r>
          </a:p>
        </p:txBody>
      </p:sp>
      <p:sp>
        <p:nvSpPr>
          <p:cNvPr id="2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17ACFBCE-DA58-4DC7-A07A-AAF78219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095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3" name="rule-112">
            <a:extLst xmlns:a="http://schemas.openxmlformats.org/drawingml/2006/main">
              <a:ext uri="{FF2B5EF4-FFF2-40B4-BE49-F238E27FC236}">
                <a16:creationId xmlns:a16="http://schemas.microsoft.com/office/drawing/2014/main" id="{2F653122-5B0A-4273-9D12-5F2B7C10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question-label">
            <a:extLst xmlns:a="http://schemas.openxmlformats.org/drawingml/2006/main">
              <a:ext uri="{FF2B5EF4-FFF2-40B4-BE49-F238E27FC236}">
                <a16:creationId xmlns:a16="http://schemas.microsoft.com/office/drawing/2014/main" id="{7C456FB5-9A69-4E2A-94EE-7FE32350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rPr>
              <a:t>RESEARCH QUESTION</a:t>
            </a:r>
          </a:p>
        </p:txBody>
      </p:sp>
      <p:sp>
        <p:nvSpPr>
          <p:cNvPr id="5" name="question">
            <a:extLst xmlns:a="http://schemas.openxmlformats.org/drawingml/2006/main">
              <a:ext uri="{FF2B5EF4-FFF2-40B4-BE49-F238E27FC236}">
                <a16:creationId xmlns:a16="http://schemas.microsoft.com/office/drawing/2014/main" id="{0E7484E5-AB8A-4FF1-A82D-22F970BC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46672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 aggregate-posterior sampling close the standard-prior utility gap without target data?</a:t>
            </a:r>
          </a:p>
        </p:txBody>
      </p:sp>
      <p:sp>
        <p:nvSpPr>
          <p:cNvPr id="6" name="protocol-note">
            <a:extLst xmlns:a="http://schemas.openxmlformats.org/drawingml/2006/main">
              <a:ext uri="{FF2B5EF4-FFF2-40B4-BE49-F238E27FC236}">
                <a16:creationId xmlns:a16="http://schemas.microsoft.com/office/drawing/2014/main" id="{AD1D317A-75D7-4C93-87BF-6DC7E1A7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4667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Nested source-inner tasks; training seeds 17, 42, and 101.</a:t>
            </a:r>
          </a:p>
        </p:txBody>
      </p:sp>
      <p:sp>
        <p:nvSpPr>
          <p:cNvPr id="7" name="column-rule">
            <a:extLst xmlns:a="http://schemas.openxmlformats.org/drawingml/2006/main">
              <a:ext uri="{FF2B5EF4-FFF2-40B4-BE49-F238E27FC236}">
                <a16:creationId xmlns:a16="http://schemas.microsoft.com/office/drawing/2014/main" id="{5E0F92DB-96DA-4A01-B190-862208527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390650"/>
            <a:ext cx="14288" cy="481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ep-num-0">
            <a:extLst xmlns:a="http://schemas.openxmlformats.org/drawingml/2006/main">
              <a:ext uri="{FF2B5EF4-FFF2-40B4-BE49-F238E27FC236}">
                <a16:creationId xmlns:a16="http://schemas.microsoft.com/office/drawing/2014/main" id="{80E0029B-BAB4-4DD5-91C0-40D0BB15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4287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step-label-0">
            <a:extLst xmlns:a="http://schemas.openxmlformats.org/drawingml/2006/main">
              <a:ext uri="{FF2B5EF4-FFF2-40B4-BE49-F238E27FC236}">
                <a16:creationId xmlns:a16="http://schemas.microsoft.com/office/drawing/2014/main" id="{E94477A9-D7AD-4805-9D0E-EC41C822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4097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Keep experts independent</a:t>
            </a:r>
          </a:p>
        </p:txBody>
      </p:sp>
      <p:sp>
        <p:nvSpPr>
          <p:cNvPr id="10" name="step-text-0">
            <a:extLst xmlns:a="http://schemas.openxmlformats.org/drawingml/2006/main">
              <a:ext uri="{FF2B5EF4-FFF2-40B4-BE49-F238E27FC236}">
                <a16:creationId xmlns:a16="http://schemas.microsoft.com/office/drawing/2014/main" id="{BBBEA6A2-AEAD-4549-AE26-6137658F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79070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Each source model retains a source-local frame and sampler state.</a:t>
            </a:r>
          </a:p>
        </p:txBody>
      </p:sp>
      <p:sp>
        <p:nvSpPr>
          <p:cNvPr id="11" name="step-rule-0">
            <a:extLst xmlns:a="http://schemas.openxmlformats.org/drawingml/2006/main">
              <a:ext uri="{FF2B5EF4-FFF2-40B4-BE49-F238E27FC236}">
                <a16:creationId xmlns:a16="http://schemas.microsoft.com/office/drawing/2014/main" id="{38BBFF8D-6C77-4812-A985-F27CD114B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86025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ep-num-1">
            <a:extLst xmlns:a="http://schemas.openxmlformats.org/drawingml/2006/main">
              <a:ext uri="{FF2B5EF4-FFF2-40B4-BE49-F238E27FC236}">
                <a16:creationId xmlns:a16="http://schemas.microsoft.com/office/drawing/2014/main" id="{3AEB8E25-C592-40D0-B53B-3A932A1A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098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4D0E3E66-AC1C-4AE6-92FA-CB19B02D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908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Construct PS source-only</a:t>
            </a:r>
          </a:p>
        </p:txBody>
      </p:sp>
      <p:sp>
        <p:nvSpPr>
          <p:cNvPr id="14" name="step-text-1">
            <a:extLst xmlns:a="http://schemas.openxmlformats.org/drawingml/2006/main">
              <a:ext uri="{FF2B5EF4-FFF2-40B4-BE49-F238E27FC236}">
                <a16:creationId xmlns:a16="http://schemas.microsoft.com/office/drawing/2014/main" id="{BB5DCA9D-56C1-4941-B80F-3910F68CD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7180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Class-conditional aggregate posterior uses only eligible source data.</a:t>
            </a:r>
          </a:p>
        </p:txBody>
      </p:sp>
      <p:sp>
        <p:nvSpPr>
          <p:cNvPr id="15" name="step-rule-1">
            <a:extLst xmlns:a="http://schemas.openxmlformats.org/drawingml/2006/main">
              <a:ext uri="{FF2B5EF4-FFF2-40B4-BE49-F238E27FC236}">
                <a16:creationId xmlns:a16="http://schemas.microsoft.com/office/drawing/2014/main" id="{34C406D0-B917-4642-8DD4-CF6503D4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67125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tep-num-2">
            <a:extLst xmlns:a="http://schemas.openxmlformats.org/drawingml/2006/main">
              <a:ext uri="{FF2B5EF4-FFF2-40B4-BE49-F238E27FC236}">
                <a16:creationId xmlns:a16="http://schemas.microsoft.com/office/drawing/2014/main" id="{2D9B5DA8-15A9-4522-9E96-41D2BE5FE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7909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BE2446A5-4FDC-42B0-83FB-AAC035E8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7719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Compare matched arms</a:t>
            </a:r>
          </a:p>
        </p:txBody>
      </p:sp>
      <p:sp>
        <p:nvSpPr>
          <p:cNvPr id="18" name="step-text-2">
            <a:extLst xmlns:a="http://schemas.openxmlformats.org/drawingml/2006/main">
              <a:ext uri="{FF2B5EF4-FFF2-40B4-BE49-F238E27FC236}">
                <a16:creationId xmlns:a16="http://schemas.microsoft.com/office/drawing/2014/main" id="{CA66B494-CEA8-4D1B-9520-03CF706CE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5290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P0, PS, posterior mean, posterior sample, and PCA-only are scored together.</a:t>
            </a:r>
          </a:p>
        </p:txBody>
      </p:sp>
      <p:sp>
        <p:nvSpPr>
          <p:cNvPr id="19" name="step-rule-2">
            <a:extLst xmlns:a="http://schemas.openxmlformats.org/drawingml/2006/main">
              <a:ext uri="{FF2B5EF4-FFF2-40B4-BE49-F238E27FC236}">
                <a16:creationId xmlns:a16="http://schemas.microsoft.com/office/drawing/2014/main" id="{FE3B703E-F074-4B8C-BB0C-53F8AB41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848225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tep-num-3">
            <a:extLst xmlns:a="http://schemas.openxmlformats.org/drawingml/2006/main">
              <a:ext uri="{FF2B5EF4-FFF2-40B4-BE49-F238E27FC236}">
                <a16:creationId xmlns:a16="http://schemas.microsoft.com/office/drawing/2014/main" id="{603AA9C4-0C86-4302-B554-61A808F8D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9720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1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3C38EB6B-AB6F-4A6F-9579-3DB8187F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530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Promote separately</a:t>
            </a:r>
          </a:p>
        </p:txBody>
      </p:sp>
      <p:sp>
        <p:nvSpPr>
          <p:cNvPr id="22" name="step-text-3">
            <a:extLst xmlns:a="http://schemas.openxmlformats.org/drawingml/2006/main">
              <a:ext uri="{FF2B5EF4-FFF2-40B4-BE49-F238E27FC236}">
                <a16:creationId xmlns:a16="http://schemas.microsoft.com/office/drawing/2014/main" id="{EDCF15FB-1B44-4104-9D17-BECB32DE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33400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Stage-20 results cannot feed routing until Stage-30 review passes.</a:t>
            </a:r>
          </a:p>
        </p:txBody>
      </p:sp>
      <p:sp>
        <p:nvSpPr>
          <p:cNvPr id="23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3EE08FE7-C1DD-4E7C-BA6A-05B8206A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Source: Uniform-B aggregate-prior union v2 study</a:t>
            </a:r>
          </a:p>
        </p:txBody>
      </p:sp>
    </p:spTree>
    <p:extLst>
      <p:ext uri="{BB962C8B-B14F-4D97-AF65-F5344CB8AC3E}">
        <p14:creationId xmlns:p14="http://schemas.microsoft.com/office/powerpoint/2010/main" val="6793445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CCD044EF-742A-457B-AA68-5727355F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PS closes 90% of the remaining P0-to-Q gap</a:t>
            </a:r>
          </a:p>
        </p:txBody>
      </p:sp>
      <p:sp>
        <p:nvSpPr>
          <p:cNvPr id="2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2F13F735-6927-4F0F-B268-F05A7FEC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095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" name="rule-112">
            <a:extLst xmlns:a="http://schemas.openxmlformats.org/drawingml/2006/main">
              <a:ext uri="{FF2B5EF4-FFF2-40B4-BE49-F238E27FC236}">
                <a16:creationId xmlns:a16="http://schemas.microsoft.com/office/drawing/2014/main" id="{AA4E70FF-F9FD-4422-8677-B60A6F00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9" name="primary-result-chart"/>
          <p:cNvGraphicFramePr/>
          <p:nvPr/>
        </p:nvGraphicFramePr>
        <p:xfrm>
          <a:off xmlns:a="http://schemas.openxmlformats.org/drawingml/2006/main" x="400050" y="1428750"/>
          <a:ext xmlns:a="http://schemas.openxmlformats.org/drawingml/2006/main" cx="7334250" cy="4667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cd9678f8601473a"/>
          </a:graphicData>
        </a:graphic>
      </p:graphicFrame>
      <p:sp>
        <p:nvSpPr>
          <p:cNvPr id="5" name="chart-caption">
            <a:extLst xmlns:a="http://schemas.openxmlformats.org/drawingml/2006/main">
              <a:ext uri="{FF2B5EF4-FFF2-40B4-BE49-F238E27FC236}">
                <a16:creationId xmlns:a16="http://schemas.microsoft.com/office/drawing/2014/main" id="{7ABD0F26-D41C-4F67-A8AC-9999DE584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15050"/>
            <a:ext cx="714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Seven-source inner tasks; not a Stage-70 estimate.</a:t>
            </a:r>
          </a:p>
        </p:txBody>
      </p:sp>
      <p:sp>
        <p:nvSpPr>
          <p:cNvPr id="6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1470946B-8D96-4E01-8579-F0D11DEC9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4763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rPr>
              <a:t>WHAT CHANGED</a:t>
            </a:r>
          </a:p>
        </p:txBody>
      </p:sp>
      <p:sp>
        <p:nvSpPr>
          <p:cNvPr id="7" name="metric-value-0">
            <a:extLst xmlns:a="http://schemas.openxmlformats.org/drawingml/2006/main">
              <a:ext uri="{FF2B5EF4-FFF2-40B4-BE49-F238E27FC236}">
                <a16:creationId xmlns:a16="http://schemas.microsoft.com/office/drawing/2014/main" id="{A1474339-51B2-4383-A28B-D6B22FAF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812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rPr>
              <a:t>+0.0128</a:t>
            </a:r>
          </a:p>
        </p:txBody>
      </p:sp>
      <p:sp>
        <p:nvSpPr>
          <p:cNvPr id="8" name="metric-text-0">
            <a:extLst xmlns:a="http://schemas.openxmlformats.org/drawingml/2006/main">
              <a:ext uri="{FF2B5EF4-FFF2-40B4-BE49-F238E27FC236}">
                <a16:creationId xmlns:a16="http://schemas.microsoft.com/office/drawing/2014/main" id="{FFDEF635-0403-487C-BE59-CF1D26D6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955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PS minus standard prior P0</a:t>
            </a:r>
          </a:p>
        </p:txBody>
      </p:sp>
      <p:sp>
        <p:nvSpPr>
          <p:cNvPr id="9" name="metric-rule-1">
            <a:extLst xmlns:a="http://schemas.openxmlformats.org/drawingml/2006/main">
              <a:ext uri="{FF2B5EF4-FFF2-40B4-BE49-F238E27FC236}">
                <a16:creationId xmlns:a16="http://schemas.microsoft.com/office/drawing/2014/main" id="{32DE14C3-B7E1-439B-9740-BF816B5D5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623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12235D6F-5619-434B-8B11-25D924FF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337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rPr>
              <a:t>0.00146</a:t>
            </a:r>
          </a:p>
        </p:txBody>
      </p:sp>
      <p:sp>
        <p:nvSpPr>
          <p:cNvPr id="11" name="metric-text-1">
            <a:extLst xmlns:a="http://schemas.openxmlformats.org/drawingml/2006/main">
              <a:ext uri="{FF2B5EF4-FFF2-40B4-BE49-F238E27FC236}">
                <a16:creationId xmlns:a16="http://schemas.microsoft.com/office/drawing/2014/main" id="{60D5BB5B-E785-4EBA-A8FE-8E60F5763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481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Posterior-sample Q minus PS</a:t>
            </a:r>
          </a:p>
        </p:txBody>
      </p:sp>
      <p:sp>
        <p:nvSpPr>
          <p:cNvPr id="12" name="metric-rule-2">
            <a:extLst xmlns:a="http://schemas.openxmlformats.org/drawingml/2006/main">
              <a:ext uri="{FF2B5EF4-FFF2-40B4-BE49-F238E27FC236}">
                <a16:creationId xmlns:a16="http://schemas.microsoft.com/office/drawing/2014/main" id="{8C3F28A4-28EA-4D64-88C4-16B03C69F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148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92BE3A76-B94F-49CD-A604-19CE3EDE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863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rPr>
              <a:t>0.7646</a:t>
            </a:r>
          </a:p>
        </p:txBody>
      </p:sp>
      <p:sp>
        <p:nvSpPr>
          <p:cNvPr id="14" name="metric-text-2">
            <a:extLst xmlns:a="http://schemas.openxmlformats.org/drawingml/2006/main">
              <a:ext uri="{FF2B5EF4-FFF2-40B4-BE49-F238E27FC236}">
                <a16:creationId xmlns:a16="http://schemas.microsoft.com/office/drawing/2014/main" id="{C115EB3E-8EA1-4ABB-AD16-FC4A3EB7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2006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Worst training-seed PS mean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9D7FDF41-98CB-460E-960C-59C0FE60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Source: Uniform-B aggregate-prior union v2 study</a:t>
            </a:r>
          </a:p>
        </p:txBody>
      </p:sp>
    </p:spTree>
    <p:extLst>
      <p:ext uri="{BB962C8B-B14F-4D97-AF65-F5344CB8AC3E}">
        <p14:creationId xmlns:p14="http://schemas.microsoft.com/office/powerpoint/2010/main" val="8473258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067A62EB-CED0-46DB-898D-CD83DA25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Generation quality is strong enough to build the bank</a:t>
            </a:r>
          </a:p>
        </p:txBody>
      </p:sp>
      <p:sp>
        <p:nvSpPr>
          <p:cNvPr id="2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77C4596A-2296-4FBA-A714-4739B23E6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095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" name="rule-112">
            <a:extLst xmlns:a="http://schemas.openxmlformats.org/drawingml/2006/main">
              <a:ext uri="{FF2B5EF4-FFF2-40B4-BE49-F238E27FC236}">
                <a16:creationId xmlns:a16="http://schemas.microsoft.com/office/drawing/2014/main" id="{A723259F-04D3-4145-8A5B-9ECAAD413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upported-label">
            <a:extLst xmlns:a="http://schemas.openxmlformats.org/drawingml/2006/main">
              <a:ext uri="{FF2B5EF4-FFF2-40B4-BE49-F238E27FC236}">
                <a16:creationId xmlns:a16="http://schemas.microsoft.com/office/drawing/2014/main" id="{35C38587-DB8A-4E54-AE74-A082D667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rPr>
              <a:t>SUPPORTED INTERPRETATION</a:t>
            </a:r>
          </a:p>
        </p:txBody>
      </p:sp>
      <p:sp>
        <p:nvSpPr>
          <p:cNvPr id="5" name="supported-text">
            <a:extLst xmlns:a="http://schemas.openxmlformats.org/drawingml/2006/main">
              <a:ext uri="{FF2B5EF4-FFF2-40B4-BE49-F238E27FC236}">
                <a16:creationId xmlns:a16="http://schemas.microsoft.com/office/drawing/2014/main" id="{7C99F370-6B8F-4A49-B8A4-89C36BB0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504825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source-only aggregate posterior substantially recovers the latent-prior mismatch and is stable across the three training seeds.</a:t>
            </a:r>
          </a:p>
        </p:txBody>
      </p:sp>
      <p:sp>
        <p:nvSpPr>
          <p:cNvPr id="6" name="objective-text">
            <a:extLst xmlns:a="http://schemas.openxmlformats.org/drawingml/2006/main">
              <a:ext uri="{FF2B5EF4-FFF2-40B4-BE49-F238E27FC236}">
                <a16:creationId xmlns:a16="http://schemas.microsoft.com/office/drawing/2014/main" id="{FFB23A21-D8DA-4A0A-B719-EB98EC9F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504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Positive objective-2 mechanism result and prerequisite for objective 4.</a:t>
            </a:r>
          </a:p>
        </p:txBody>
      </p:sp>
      <p:sp>
        <p:nvSpPr>
          <p:cNvPr id="7" name="conclusion-rule">
            <a:extLst xmlns:a="http://schemas.openxmlformats.org/drawingml/2006/main">
              <a:ext uri="{FF2B5EF4-FFF2-40B4-BE49-F238E27FC236}">
                <a16:creationId xmlns:a16="http://schemas.microsoft.com/office/drawing/2014/main" id="{099F253A-C7AB-47CA-93A8-F459B2871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428750"/>
            <a:ext cx="14288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oundary-label">
            <a:extLst xmlns:a="http://schemas.openxmlformats.org/drawingml/2006/main">
              <a:ext uri="{FF2B5EF4-FFF2-40B4-BE49-F238E27FC236}">
                <a16:creationId xmlns:a16="http://schemas.microsoft.com/office/drawing/2014/main" id="{A483014B-5E65-4A83-8F37-DF4B9F55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5049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43D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43D4B"/>
                </a:solidFill>
                <a:latin typeface="Helvetica Neue"/>
                <a:ea typeface="Helvetica Neue"/>
                <a:cs typeface="Helvetica Neue"/>
              </a:rPr>
              <a:t>CLAIM BOUNDARY</a:t>
            </a:r>
          </a:p>
        </p:txBody>
      </p:sp>
      <p:sp>
        <p:nvSpPr>
          <p:cNvPr id="9" name="boundary-text">
            <a:extLst xmlns:a="http://schemas.openxmlformats.org/drawingml/2006/main">
              <a:ext uri="{FF2B5EF4-FFF2-40B4-BE49-F238E27FC236}">
                <a16:creationId xmlns:a16="http://schemas.microsoft.com/office/drawing/2014/main" id="{6C499D8E-F0F4-41D6-9B2A-00E517E5E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52625"/>
            <a:ext cx="5143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0.770112 value is source-inner seven-source evidence. It does not predict target utility or validate a router.</a:t>
            </a:r>
          </a:p>
        </p:txBody>
      </p:sp>
      <p:sp>
        <p:nvSpPr>
          <p:cNvPr id="10" name="next-panel">
            <a:extLst xmlns:a="http://schemas.openxmlformats.org/drawingml/2006/main">
              <a:ext uri="{FF2B5EF4-FFF2-40B4-BE49-F238E27FC236}">
                <a16:creationId xmlns:a16="http://schemas.microsoft.com/office/drawing/2014/main" id="{5F5A0A77-389E-4D3B-948D-3FB65209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62450"/>
            <a:ext cx="51435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next-label">
            <a:extLst xmlns:a="http://schemas.openxmlformats.org/drawingml/2006/main">
              <a:ext uri="{FF2B5EF4-FFF2-40B4-BE49-F238E27FC236}">
                <a16:creationId xmlns:a16="http://schemas.microsoft.com/office/drawing/2014/main" id="{4628F02E-DF96-4C92-BF16-0E489E7B9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9105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rPr>
              <a:t>NEXT DECISION</a:t>
            </a:r>
          </a:p>
        </p:txBody>
      </p:sp>
      <p:sp>
        <p:nvSpPr>
          <p:cNvPr id="12" name="next-text">
            <a:extLst xmlns:a="http://schemas.openxmlformats.org/drawingml/2006/main">
              <a:ext uri="{FF2B5EF4-FFF2-40B4-BE49-F238E27FC236}">
                <a16:creationId xmlns:a16="http://schemas.microsoft.com/office/drawing/2014/main" id="{B1C204DC-9DCD-4349-82E1-714756D5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72050"/>
            <a:ext cx="466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Promote the complete bank under independent hash, overlap, convergence, and fallback gates.</a:t>
            </a:r>
          </a:p>
        </p:txBody>
      </p:sp>
      <p:sp>
        <p:nvSpPr>
          <p:cNvPr id="13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746EEFA-DC61-4CBB-9DCB-3E83B034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Source: Uniform-B aggregate-prior union v2 study</a:t>
            </a:r>
          </a:p>
        </p:txBody>
      </p:sp>
    </p:spTree>
    <p:extLst>
      <p:ext uri="{BB962C8B-B14F-4D97-AF65-F5344CB8AC3E}">
        <p14:creationId xmlns:p14="http://schemas.microsoft.com/office/powerpoint/2010/main" val="3692423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2026-08-22T16:04:53.2110000Z</dcterms:created>
  <dcterms:modified xsi:type="dcterms:W3CDTF">2026-08-22T16:04:53.2110000Z</dcterms:modified>
</coreProperties>
</file>