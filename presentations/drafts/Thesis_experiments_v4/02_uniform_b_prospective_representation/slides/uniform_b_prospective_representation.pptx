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20af9f4da94367" /><Relationship Type="http://schemas.openxmlformats.org/officeDocument/2006/relationships/extended-properties" Target="/docProps/app.xml" Id="R8fa0c679e00d4495" /><Relationship Type="http://schemas.openxmlformats.org/officeDocument/2006/relationships/officeDocument" Target="/ppt/presentation.xml" Id="R54e5b73c1f22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b18c9601714eae"/>
  </p:sldMasterIdLst>
  <p:notesMasterIdLst>
    <p:notesMasterId xmlns:r="http://schemas.openxmlformats.org/officeDocument/2006/relationships" r:id="Rc8c694735d62486d"/>
  </p:notesMasterIdLst>
  <p:sldIdLst>
    <p:sldId xmlns:r="http://schemas.openxmlformats.org/officeDocument/2006/relationships" id="256" r:id="R08ffab9420e54876"/>
    <p:sldId xmlns:r="http://schemas.openxmlformats.org/officeDocument/2006/relationships" id="257" r:id="R2538f0f5e81b4569"/>
    <p:sldId xmlns:r="http://schemas.openxmlformats.org/officeDocument/2006/relationships" id="258" r:id="R42c2ccda7e9f4dca"/>
    <p:sldId xmlns:r="http://schemas.openxmlformats.org/officeDocument/2006/relationships" id="259" r:id="R187b3a1e85c447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e0df5c826e497a" /><Relationship Type="http://schemas.openxmlformats.org/officeDocument/2006/relationships/slideMaster" Target="/ppt/slideMasters/slideMaster1.xml" Id="R92b18c9601714eae" /><Relationship Type="http://schemas.openxmlformats.org/officeDocument/2006/relationships/notesMaster" Target="/ppt/notesMasters/notesMaster1.xml" Id="Rc8c694735d62486d" /><Relationship Type="http://schemas.openxmlformats.org/officeDocument/2006/relationships/presProps" Target="/ppt/presProps.xml" Id="R6003fc46b201490d" /><Relationship Type="http://schemas.openxmlformats.org/officeDocument/2006/relationships/tableStyles" Target="/ppt/tableStyles.xml" Id="Rf7e392f365a24073" /><Relationship Type="http://schemas.openxmlformats.org/officeDocument/2006/relationships/slide" Target="/ppt/slides/slide1.xml" Id="R08ffab9420e54876" /><Relationship Type="http://schemas.openxmlformats.org/officeDocument/2006/relationships/slide" Target="/ppt/slides/slide2.xml" Id="R2538f0f5e81b4569" /><Relationship Type="http://schemas.openxmlformats.org/officeDocument/2006/relationships/slide" Target="/ppt/slides/slide3.xml" Id="R42c2ccda7e9f4dca" /><Relationship Type="http://schemas.openxmlformats.org/officeDocument/2006/relationships/slide" Target="/ppt/slides/slide4.xml" Id="R187b3a1e85c4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ddf0ea24c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d02b939324dc5" /><Relationship Type="http://schemas.openxmlformats.org/officeDocument/2006/relationships/notesMaster" Target="/ppt/notesMasters/notesMaster1.xml" Id="Rec230919a9124d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0dbf519b3491b" /><Relationship Type="http://schemas.openxmlformats.org/officeDocument/2006/relationships/notesMaster" Target="/ppt/notesMasters/notesMaster1.xml" Id="Ref160c3da33f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602b0eb0094726" /><Relationship Type="http://schemas.openxmlformats.org/officeDocument/2006/relationships/notesMaster" Target="/ppt/notesMasters/notesMaster1.xml" Id="R8524da9f8a25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b4469ff51c4b1d" /><Relationship Type="http://schemas.openxmlformats.org/officeDocument/2006/relationships/notesMaster" Target="/ppt/notesMasters/notesMaster1.xml" Id="Rdb3d7d386e5c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docs/wiki/03-experiments/midogpp-uniform-b-v3-prospective-test-confirmation-v1.md</a:t>
            </a:r>
          </a:p>
          <a:p xmlns:a="http://schemas.openxmlformats.org/drawingml/2006/main">
            <a:r>
              <a:t>- artifacts/midogpp/90_oracles_and_diagnostics/uniform_b_v3_prospective_test_confirmation_v1/seed42/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docs/wiki/03-experiments/midogpp-uniform-b-v3-prospective-test-confirmation-v1.md</a:t>
            </a:r>
          </a:p>
          <a:p xmlns:a="http://schemas.openxmlformats.org/drawingml/2006/main">
            <a:r>
              <a:t>- artifacts/midogpp/90_oracles_and_diagnostics/uniform_b_v3_prospective_test_confirmation_v1/seed42/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docs/wiki/03-experiments/midogpp-uniform-b-v3-prospective-test-confirmation-v1.md</a:t>
            </a:r>
          </a:p>
          <a:p xmlns:a="http://schemas.openxmlformats.org/drawingml/2006/main">
            <a:r>
              <a:t>- artifacts/midogpp/90_oracles_and_diagnostics/uniform_b_v3_prospective_test_confirmation_v1/seed42/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docs/wiki/03-experiments/midogpp-uniform-b-v3-prospective-test-confirmation-v1.md</a:t>
            </a:r>
          </a:p>
          <a:p xmlns:a="http://schemas.openxmlformats.org/drawingml/2006/main">
            <a:r>
              <a:t>- artifacts/midogpp/90_oracles_and_diagnostics/uniform_b_v3_prospective_test_confirmation_v1/seed42/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1fd3fb338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a8937aed14523" /><Relationship Type="http://schemas.openxmlformats.org/officeDocument/2006/relationships/slideLayout" Target="/ppt/slideLayouts/slideLayout1.xml" Id="R5e122d0f3a9b4e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22d0f3a9b4e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d1ae85e444a30" /><Relationship Type="http://schemas.openxmlformats.org/officeDocument/2006/relationships/notesSlide" Target="/ppt/notesSlides/notesSlide1.xml" Id="R49f1286ae82c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0fe38b774422" /><Relationship Type="http://schemas.openxmlformats.org/officeDocument/2006/relationships/notesSlide" Target="/ppt/notesSlides/notesSlide2.xml" Id="Re34a89e12799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42f0e479343e5" /><Relationship Type="http://schemas.openxmlformats.org/officeDocument/2006/relationships/chart" Target="/ppt/slides/charts/chart1.xml" Id="R70909f867b7440ea" /><Relationship Type="http://schemas.openxmlformats.org/officeDocument/2006/relationships/notesSlide" Target="/ppt/notesSlides/notesSlide3.xml" Id="R93e82916529b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cc13f9eb340f9" /><Relationship Type="http://schemas.openxmlformats.org/officeDocument/2006/relationships/notesSlide" Target="/ppt/notesSlides/notesSlide4.xml" Id="Rb4c9cb8960a041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</c:v>
          </c:tx>
          <c:spPr>
            <a:solidFill xmlns:a="http://schemas.openxmlformats.org/drawingml/2006/main">
              <a:srgbClr val="D0EDFA"/>
            </a:solidFill>
          </c:spPr>
          <c:cat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0.000</c:formatCode>
              <c:ptCount val="9"/>
              <c:pt idx="0">
                <c:v>0.696593</c:v>
              </c:pt>
              <c:pt idx="1">
                <c:v>0.705686</c:v>
              </c:pt>
              <c:pt idx="2">
                <c:v>0.716511</c:v>
              </c:pt>
              <c:pt idx="3">
                <c:v>0.713615</c:v>
              </c:pt>
              <c:pt idx="4">
                <c:v>0.786624</c:v>
              </c:pt>
              <c:pt idx="5">
                <c:v>0.754717</c:v>
              </c:pt>
              <c:pt idx="6">
                <c:v>0.794326</c:v>
              </c:pt>
              <c:pt idx="7">
                <c:v>0.739669</c:v>
              </c:pt>
              <c:pt idx="8">
                <c:v>0.713855</c:v>
              </c:pt>
            </c:numLit>
          </c:val>
        </c:ser>
        <c:ser>
          <c:idx val="1"/>
          <c:order val="1"/>
          <c:tx>
            <c:v>B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numLit>
          </c:cat>
          <c:val>
            <c:numLit>
              <c:formatCode>0.000</c:formatCode>
              <c:ptCount val="9"/>
              <c:pt idx="0">
                <c:v>0.768267</c:v>
              </c:pt>
              <c:pt idx="1">
                <c:v>0.775043</c:v>
              </c:pt>
              <c:pt idx="2">
                <c:v>0.803115</c:v>
              </c:pt>
              <c:pt idx="3">
                <c:v>0.808294</c:v>
              </c:pt>
              <c:pt idx="4">
                <c:v>0.81051</c:v>
              </c:pt>
              <c:pt idx="5">
                <c:v>0.807278</c:v>
              </c:pt>
              <c:pt idx="6">
                <c:v>0.804965</c:v>
              </c:pt>
              <c:pt idx="7">
                <c:v>0.833333</c:v>
              </c:pt>
              <c:pt idx="8">
                <c:v>0.781627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E16C0D3-F6FD-495E-AAD1-051C2C9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STAGE 90 — PROSPECTIVE WITHIN-CENTER CONFIRMATION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154353B-98E8-4718-BB3B-5C68DD87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50B7A5-2CE7-4DD1-83FD-31379C1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Representation B improves A on new cases in every observed center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95B3A5C-F480-4953-8125-CC647FA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frozen Phase-B test after representation discovery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32DB7821-CBF7-4A60-948C-D9F70C5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19B5834-8280-44F4-9B08-7E900AF2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CONFIRMED_WITHIN_CENTER • diagnostic-only for downstream adoption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3D387FC-F09E-4909-B642-AA189F9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uniform_b_v3_prospective_test_confirmation_v1</a:t>
            </a:r>
          </a:p>
        </p:txBody>
      </p:sp>
    </p:spTree>
    <p:extLst>
      <p:ext uri="{BB962C8B-B14F-4D97-AF65-F5344CB8AC3E}">
        <p14:creationId xmlns:p14="http://schemas.microsoft.com/office/powerpoint/2010/main" val="1616106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FDD9EB4-0DC3-4ACB-ADB7-69AFAB4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test surface was frozen before B features were extracted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E5D05A55-63A5-4EEC-B529-E4F02C78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C1DA02BC-12EC-4C97-A658-52039359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E337274-2740-43E4-AEA9-CA17E8CB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14CBC21-A468-4972-8FDB-C02B062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Does fixed representation B outperform A on case-disjoint test rows from the same nine centers?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0CF60340-1FA4-4553-8513-296A13E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9,928 test rows; zero sample/case overlap with 9,648 discovery rows.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B86ED2C-3062-46B0-8549-9FB667D2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CAAB78EA-5339-494C-9C68-208EF2F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3A1C2A32-3759-4AEF-BD24-9D6C1D6B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 on train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01A46D52-7306-4AA5-ADC3-916392C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Phase A selected the uniform-B hypothesis; those outcomes cannot confirm it.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634BB70A-CB43-4D2D-969F-B38C0D8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6B373FAB-89FA-4C24-A367-C1069469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F420D0C-A3DD-4FA2-ADD9-7849B11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the gate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5714F10-CBCC-4762-BD91-98D18F3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Delta, win count, worst-center floor, and bootstrap lower bound are predeclared.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FE107FD4-EB0E-4EDE-B9AD-A162D77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59816A0B-0857-45AD-B67C-54624D3F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0533990-34AC-4426-86B9-16F1F83B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 test B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22EF8EC6-8A2D-4202-8ADF-2259340A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Pinned Virchow2 revision and pooling window reproduce the representation.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14B405A1-FCC9-48F3-AA75-848AB983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6061A5FA-7CCC-4408-8447-37A9C48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56CED04-B2FB-47F2-A71B-D8C8AE99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Refit and compare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B13466FD-6522-4141-8071-1BBB0104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and B classifiers refit under the frozen representation-specific policies.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6800A5-FD7D-4742-B697-C3CFEC98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uniform_b_v3_prospective_test_confirmation_v1</a:t>
            </a:r>
          </a:p>
        </p:txBody>
      </p:sp>
    </p:spTree>
    <p:extLst>
      <p:ext uri="{BB962C8B-B14F-4D97-AF65-F5344CB8AC3E}">
        <p14:creationId xmlns:p14="http://schemas.microsoft.com/office/powerpoint/2010/main" val="1740794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A8A3890-E1BE-4D4B-B6A1-F86D07E4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wins all nine centers with a +0.0634 mean gain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816BFC53-7272-469A-BD20-027E0F3D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5C231CF7-2154-4B77-8D47-3A22949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909f867b7440ea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055856F3-6E07-4E52-A5F0-AADD501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Held-out-center test BACC; same center identities, new cases.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E81F378-9934-4DBB-9640-94D7DBB2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69BD8D5-E1A9-46CF-B0F6-65C3641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+0.0634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46D267C1-39D8-41DE-ADB5-118B4022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Equal-center mean B minus A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38E48912-5C85-40C6-931F-21C8355A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9C19D93-6F07-46AE-875C-9474DEC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9 / 9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679CB832-F200-491E-B4FF-2109134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Strict center wins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CF3A3993-E168-4248-80FC-91A088C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ADB16441-2D9C-464C-AC2F-C101983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[.0507,.0737]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A24045F9-E0F4-4214-855F-9CF93DC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Paired case-bootstrap interval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E060578-BF0A-4F56-AE28-2FBCAC8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uniform_b_v3_prospective_test_confirmation_v1</a:t>
            </a:r>
          </a:p>
        </p:txBody>
      </p:sp>
    </p:spTree>
    <p:extLst>
      <p:ext uri="{BB962C8B-B14F-4D97-AF65-F5344CB8AC3E}">
        <p14:creationId xmlns:p14="http://schemas.microsoft.com/office/powerpoint/2010/main" val="2128759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05B44AD-1FAE-4196-8472-9BAA93DD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reduces representation uncertainty, not center uncertainty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DA882848-5B68-49BD-91D8-D083EA5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BD9FDF69-29B0-424D-8205-067CFBB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89524206-B025-43B0-B369-34446F3A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0E232A4E-0702-4254-9194-C0835CF8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is a robust improvement for new cases drawn from the nine observed center populations.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E20FE399-87FB-4FFD-8B14-0839147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Strengthens objective 1 and the representation foundation for objective 2.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807A6CE7-7CF4-4EAD-9FD8-6514D8D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F9414FB0-C60B-4A2F-8D70-118224D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DB2AD096-F192-4198-BEA9-F38F55D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new center, institution, scanner population, or external dataset is sampled. Stage-90 placement forbids silent adoption into Stages 20–70.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7AF89C42-7F31-459F-B0C6-A04EB0D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9AB2B474-9C0A-4366-AEF9-1D017EA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A67F16B8-1D73-4BAE-B25D-057C50D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B is adopted, start a separately authorized downstream lineage rather than rewriting completed evidence.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D986418-D714-463C-9733-DE0E88DA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uniform_b_v3_prospective_test_confirmation_v1</a:t>
            </a:r>
          </a:p>
        </p:txBody>
      </p:sp>
    </p:spTree>
    <p:extLst>
      <p:ext uri="{BB962C8B-B14F-4D97-AF65-F5344CB8AC3E}">
        <p14:creationId xmlns:p14="http://schemas.microsoft.com/office/powerpoint/2010/main" val="1050884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2026-08-22T16:04:51.6870000Z</dcterms:created>
  <dcterms:modified xsi:type="dcterms:W3CDTF">2026-08-22T16:04:51.6870000Z</dcterms:modified>
</coreProperties>
</file>